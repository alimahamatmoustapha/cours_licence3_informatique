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9"/>
  </p:notesMasterIdLst>
  <p:sldIdLst>
    <p:sldId id="256" r:id="rId2"/>
    <p:sldId id="322" r:id="rId3"/>
    <p:sldId id="336" r:id="rId4"/>
    <p:sldId id="351" r:id="rId5"/>
    <p:sldId id="324" r:id="rId6"/>
    <p:sldId id="315" r:id="rId7"/>
    <p:sldId id="317" r:id="rId8"/>
    <p:sldId id="319" r:id="rId9"/>
    <p:sldId id="318" r:id="rId10"/>
    <p:sldId id="320" r:id="rId11"/>
    <p:sldId id="338" r:id="rId12"/>
    <p:sldId id="352" r:id="rId13"/>
    <p:sldId id="353" r:id="rId14"/>
    <p:sldId id="354" r:id="rId15"/>
    <p:sldId id="370" r:id="rId16"/>
    <p:sldId id="366" r:id="rId17"/>
    <p:sldId id="365" r:id="rId18"/>
    <p:sldId id="361" r:id="rId19"/>
    <p:sldId id="367" r:id="rId20"/>
    <p:sldId id="368" r:id="rId21"/>
    <p:sldId id="364" r:id="rId22"/>
    <p:sldId id="362" r:id="rId23"/>
    <p:sldId id="372" r:id="rId24"/>
    <p:sldId id="369" r:id="rId25"/>
    <p:sldId id="363" r:id="rId26"/>
    <p:sldId id="349" r:id="rId27"/>
    <p:sldId id="356" r:id="rId28"/>
    <p:sldId id="329" r:id="rId29"/>
    <p:sldId id="330" r:id="rId30"/>
    <p:sldId id="358" r:id="rId31"/>
    <p:sldId id="359" r:id="rId32"/>
    <p:sldId id="360" r:id="rId33"/>
    <p:sldId id="332" r:id="rId34"/>
    <p:sldId id="333" r:id="rId35"/>
    <p:sldId id="334" r:id="rId36"/>
    <p:sldId id="335" r:id="rId37"/>
    <p:sldId id="350" r:id="rId38"/>
  </p:sldIdLst>
  <p:sldSz cx="9144000" cy="6858000" type="screen4x3"/>
  <p:notesSz cx="6797675" cy="987425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800" kern="1200">
        <a:solidFill>
          <a:schemeClr val="bg1"/>
        </a:solidFill>
        <a:latin typeface="Arial" charset="0"/>
        <a:ea typeface="+mn-ea"/>
        <a:cs typeface="DejaVu Sans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800" kern="1200">
        <a:solidFill>
          <a:schemeClr val="bg1"/>
        </a:solidFill>
        <a:latin typeface="Arial" charset="0"/>
        <a:ea typeface="+mn-ea"/>
        <a:cs typeface="DejaVu Sans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800" kern="1200">
        <a:solidFill>
          <a:schemeClr val="bg1"/>
        </a:solidFill>
        <a:latin typeface="Arial" charset="0"/>
        <a:ea typeface="+mn-ea"/>
        <a:cs typeface="DejaVu Sans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800" kern="1200">
        <a:solidFill>
          <a:schemeClr val="bg1"/>
        </a:solidFill>
        <a:latin typeface="Arial" charset="0"/>
        <a:ea typeface="+mn-ea"/>
        <a:cs typeface="DejaVu Sans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800" kern="1200">
        <a:solidFill>
          <a:schemeClr val="bg1"/>
        </a:solidFill>
        <a:latin typeface="Arial" charset="0"/>
        <a:ea typeface="+mn-ea"/>
        <a:cs typeface="DejaVu Sans" charset="0"/>
      </a:defRPr>
    </a:lvl5pPr>
    <a:lvl6pPr marL="2286000" algn="l" defTabSz="914400" rtl="0" eaLnBrk="1" latinLnBrk="0" hangingPunct="1">
      <a:defRPr sz="2800" kern="1200">
        <a:solidFill>
          <a:schemeClr val="bg1"/>
        </a:solidFill>
        <a:latin typeface="Arial" charset="0"/>
        <a:ea typeface="+mn-ea"/>
        <a:cs typeface="DejaVu Sans" charset="0"/>
      </a:defRPr>
    </a:lvl6pPr>
    <a:lvl7pPr marL="2743200" algn="l" defTabSz="914400" rtl="0" eaLnBrk="1" latinLnBrk="0" hangingPunct="1">
      <a:defRPr sz="2800" kern="1200">
        <a:solidFill>
          <a:schemeClr val="bg1"/>
        </a:solidFill>
        <a:latin typeface="Arial" charset="0"/>
        <a:ea typeface="+mn-ea"/>
        <a:cs typeface="DejaVu Sans" charset="0"/>
      </a:defRPr>
    </a:lvl7pPr>
    <a:lvl8pPr marL="3200400" algn="l" defTabSz="914400" rtl="0" eaLnBrk="1" latinLnBrk="0" hangingPunct="1">
      <a:defRPr sz="2800" kern="1200">
        <a:solidFill>
          <a:schemeClr val="bg1"/>
        </a:solidFill>
        <a:latin typeface="Arial" charset="0"/>
        <a:ea typeface="+mn-ea"/>
        <a:cs typeface="DejaVu Sans" charset="0"/>
      </a:defRPr>
    </a:lvl8pPr>
    <a:lvl9pPr marL="3657600" algn="l" defTabSz="914400" rtl="0" eaLnBrk="1" latinLnBrk="0" hangingPunct="1">
      <a:defRPr sz="2800" kern="1200">
        <a:solidFill>
          <a:schemeClr val="bg1"/>
        </a:solidFill>
        <a:latin typeface="Arial" charset="0"/>
        <a:ea typeface="+mn-ea"/>
        <a:cs typeface="DejaVu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79">
          <p15:clr>
            <a:srgbClr val="A4A3A4"/>
          </p15:clr>
        </p15:guide>
        <p15:guide id="2" pos="20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1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12" autoAdjust="0"/>
    <p:restoredTop sz="94706" autoAdjust="0"/>
  </p:normalViewPr>
  <p:slideViewPr>
    <p:cSldViewPr>
      <p:cViewPr varScale="1">
        <p:scale>
          <a:sx n="50" d="100"/>
          <a:sy n="50" d="100"/>
        </p:scale>
        <p:origin x="1288" y="2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17429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36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779"/>
        <p:guide pos="20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 noChangeArrowheads="1"/>
          </p:cNvSpPr>
          <p:nvPr/>
        </p:nvSpPr>
        <p:spPr bwMode="auto">
          <a:xfrm>
            <a:off x="0" y="0"/>
            <a:ext cx="6797675" cy="987425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098" name="AutoShape 2"/>
          <p:cNvSpPr>
            <a:spLocks noChangeArrowheads="1"/>
          </p:cNvSpPr>
          <p:nvPr/>
        </p:nvSpPr>
        <p:spPr bwMode="auto">
          <a:xfrm>
            <a:off x="0" y="0"/>
            <a:ext cx="6797675" cy="987425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099" name="AutoShape 3"/>
          <p:cNvSpPr>
            <a:spLocks noChangeArrowheads="1"/>
          </p:cNvSpPr>
          <p:nvPr/>
        </p:nvSpPr>
        <p:spPr bwMode="auto">
          <a:xfrm>
            <a:off x="0" y="0"/>
            <a:ext cx="6797675" cy="987425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0" y="0"/>
            <a:ext cx="6797675" cy="987425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0" y="0"/>
            <a:ext cx="6797675" cy="987425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0" y="0"/>
            <a:ext cx="6797675" cy="987425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0" y="0"/>
            <a:ext cx="6797675" cy="987425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104" name="AutoShape 8"/>
          <p:cNvSpPr>
            <a:spLocks noChangeArrowheads="1"/>
          </p:cNvSpPr>
          <p:nvPr/>
        </p:nvSpPr>
        <p:spPr bwMode="auto">
          <a:xfrm>
            <a:off x="0" y="0"/>
            <a:ext cx="6797675" cy="987425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0" y="1"/>
            <a:ext cx="2935222" cy="4824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3851814" y="1"/>
            <a:ext cx="2935222" cy="4824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13324" name="Rectangle 1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33450" y="741363"/>
            <a:ext cx="4918075" cy="3689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4108" name="Rectangle 12"/>
          <p:cNvSpPr>
            <a:spLocks noGrp="1" noChangeArrowheads="1"/>
          </p:cNvSpPr>
          <p:nvPr>
            <p:ph type="body"/>
          </p:nvPr>
        </p:nvSpPr>
        <p:spPr bwMode="auto">
          <a:xfrm>
            <a:off x="905951" y="4689770"/>
            <a:ext cx="4973612" cy="443093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noProof="0" smtClean="0"/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0" y="9381073"/>
            <a:ext cx="2935222" cy="4824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7856" tIns="43928" rIns="87856" bIns="43928" anchor="ctr"/>
          <a:lstStyle/>
          <a:p>
            <a:pPr>
              <a:defRPr/>
            </a:pPr>
            <a:endParaRPr lang="fr-FR"/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sldNum"/>
          </p:nvPr>
        </p:nvSpPr>
        <p:spPr bwMode="auto">
          <a:xfrm>
            <a:off x="3851815" y="9381075"/>
            <a:ext cx="2933701" cy="48092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3736" tIns="48770" rIns="93736" bIns="4877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3000"/>
              </a:lnSpc>
              <a:buClrTx/>
              <a:buFontTx/>
              <a:buNone/>
              <a:tabLst>
                <a:tab pos="0" algn="l"/>
                <a:tab pos="430126" algn="l"/>
                <a:tab pos="861778" algn="l"/>
                <a:tab pos="1293429" algn="l"/>
                <a:tab pos="1725081" algn="l"/>
                <a:tab pos="2156732" algn="l"/>
                <a:tab pos="2588384" algn="l"/>
                <a:tab pos="3020035" algn="l"/>
                <a:tab pos="3451686" algn="l"/>
                <a:tab pos="3883337" algn="l"/>
                <a:tab pos="4314989" algn="l"/>
                <a:tab pos="4746640" algn="l"/>
                <a:tab pos="5178292" algn="l"/>
                <a:tab pos="5609943" algn="l"/>
                <a:tab pos="6041595" algn="l"/>
                <a:tab pos="6473246" algn="l"/>
                <a:tab pos="6904898" algn="l"/>
                <a:tab pos="7336549" algn="l"/>
                <a:tab pos="7768201" algn="l"/>
                <a:tab pos="8199852" algn="l"/>
                <a:tab pos="8631503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4D93674-3C49-48D2-862F-278636812796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88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50D9B45-473A-48AA-94F8-F4A9C960455E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4339" name="Text Box 1"/>
          <p:cNvSpPr txBox="1">
            <a:spLocks noChangeArrowheads="1"/>
          </p:cNvSpPr>
          <p:nvPr/>
        </p:nvSpPr>
        <p:spPr bwMode="auto">
          <a:xfrm>
            <a:off x="3851814" y="9381073"/>
            <a:ext cx="2935222" cy="4824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736" tIns="48770" rIns="93736" bIns="48770" anchor="b"/>
          <a:lstStyle/>
          <a:p>
            <a:pPr algn="r">
              <a:lnSpc>
                <a:spcPct val="93000"/>
              </a:lnSpc>
              <a:buClrTx/>
              <a:tabLst>
                <a:tab pos="0" algn="l"/>
                <a:tab pos="430126" algn="l"/>
                <a:tab pos="861778" algn="l"/>
                <a:tab pos="1293429" algn="l"/>
                <a:tab pos="1725081" algn="l"/>
                <a:tab pos="2156732" algn="l"/>
                <a:tab pos="2588384" algn="l"/>
                <a:tab pos="3020035" algn="l"/>
                <a:tab pos="3451686" algn="l"/>
                <a:tab pos="3883337" algn="l"/>
                <a:tab pos="4314989" algn="l"/>
                <a:tab pos="4746640" algn="l"/>
                <a:tab pos="5178292" algn="l"/>
                <a:tab pos="5609943" algn="l"/>
                <a:tab pos="6041595" algn="l"/>
                <a:tab pos="6473246" algn="l"/>
                <a:tab pos="6904898" algn="l"/>
                <a:tab pos="7336549" algn="l"/>
                <a:tab pos="7768201" algn="l"/>
                <a:tab pos="8199852" algn="l"/>
                <a:tab pos="8631503" algn="l"/>
              </a:tabLst>
            </a:pPr>
            <a:fld id="{119CB9E0-A8E0-4F46-9F07-D17122552E49}" type="slidenum">
              <a:rPr lang="en-US" sz="1200">
                <a:solidFill>
                  <a:srgbClr val="000000"/>
                </a:solidFill>
              </a:rPr>
              <a:pPr algn="r">
                <a:lnSpc>
                  <a:spcPct val="93000"/>
                </a:lnSpc>
                <a:buClrTx/>
                <a:tabLst>
                  <a:tab pos="0" algn="l"/>
                  <a:tab pos="430126" algn="l"/>
                  <a:tab pos="861778" algn="l"/>
                  <a:tab pos="1293429" algn="l"/>
                  <a:tab pos="1725081" algn="l"/>
                  <a:tab pos="2156732" algn="l"/>
                  <a:tab pos="2588384" algn="l"/>
                  <a:tab pos="3020035" algn="l"/>
                  <a:tab pos="3451686" algn="l"/>
                  <a:tab pos="3883337" algn="l"/>
                  <a:tab pos="4314989" algn="l"/>
                  <a:tab pos="4746640" algn="l"/>
                  <a:tab pos="5178292" algn="l"/>
                  <a:tab pos="5609943" algn="l"/>
                  <a:tab pos="6041595" algn="l"/>
                  <a:tab pos="6473246" algn="l"/>
                  <a:tab pos="6904898" algn="l"/>
                  <a:tab pos="7336549" algn="l"/>
                  <a:tab pos="7768201" algn="l"/>
                  <a:tab pos="8199852" algn="l"/>
                  <a:tab pos="8631503" algn="l"/>
                </a:tabLst>
              </a:pPr>
              <a:t>1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4340" name="Text Box 2"/>
          <p:cNvSpPr txBox="1">
            <a:spLocks noChangeArrowheads="1"/>
          </p:cNvSpPr>
          <p:nvPr/>
        </p:nvSpPr>
        <p:spPr bwMode="auto">
          <a:xfrm>
            <a:off x="1132441" y="741296"/>
            <a:ext cx="4532797" cy="3701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7856" tIns="43928" rIns="87856" bIns="43928" anchor="ctr"/>
          <a:lstStyle/>
          <a:p>
            <a:endParaRPr lang="fr-FR"/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/>
          </p:nvPr>
        </p:nvSpPr>
        <p:spPr>
          <a:xfrm>
            <a:off x="905952" y="4689772"/>
            <a:ext cx="4975132" cy="4432462"/>
          </a:xfrm>
          <a:noFill/>
          <a:ln/>
        </p:spPr>
        <p:txBody>
          <a:bodyPr wrap="none" anchor="ctr"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4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F50D9B45-473A-48AA-94F8-F4A9C960455E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4339" name="Text Box 1"/>
          <p:cNvSpPr txBox="1">
            <a:spLocks noChangeArrowheads="1"/>
          </p:cNvSpPr>
          <p:nvPr/>
        </p:nvSpPr>
        <p:spPr bwMode="auto">
          <a:xfrm>
            <a:off x="3851814" y="9381073"/>
            <a:ext cx="2935222" cy="4824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736" tIns="48770" rIns="93736" bIns="48770" anchor="b"/>
          <a:lstStyle/>
          <a:p>
            <a:pPr algn="r">
              <a:lnSpc>
                <a:spcPct val="93000"/>
              </a:lnSpc>
              <a:buClrTx/>
              <a:tabLst>
                <a:tab pos="0" algn="l"/>
                <a:tab pos="430126" algn="l"/>
                <a:tab pos="861778" algn="l"/>
                <a:tab pos="1293429" algn="l"/>
                <a:tab pos="1725081" algn="l"/>
                <a:tab pos="2156732" algn="l"/>
                <a:tab pos="2588384" algn="l"/>
                <a:tab pos="3020035" algn="l"/>
                <a:tab pos="3451686" algn="l"/>
                <a:tab pos="3883337" algn="l"/>
                <a:tab pos="4314989" algn="l"/>
                <a:tab pos="4746640" algn="l"/>
                <a:tab pos="5178292" algn="l"/>
                <a:tab pos="5609943" algn="l"/>
                <a:tab pos="6041595" algn="l"/>
                <a:tab pos="6473246" algn="l"/>
                <a:tab pos="6904898" algn="l"/>
                <a:tab pos="7336549" algn="l"/>
                <a:tab pos="7768201" algn="l"/>
                <a:tab pos="8199852" algn="l"/>
                <a:tab pos="8631503" algn="l"/>
              </a:tabLst>
            </a:pPr>
            <a:fld id="{119CB9E0-A8E0-4F46-9F07-D17122552E49}" type="slidenum">
              <a:rPr lang="en-US" sz="1200">
                <a:solidFill>
                  <a:srgbClr val="000000"/>
                </a:solidFill>
              </a:rPr>
              <a:pPr algn="r">
                <a:lnSpc>
                  <a:spcPct val="93000"/>
                </a:lnSpc>
                <a:buClrTx/>
                <a:tabLst>
                  <a:tab pos="0" algn="l"/>
                  <a:tab pos="430126" algn="l"/>
                  <a:tab pos="861778" algn="l"/>
                  <a:tab pos="1293429" algn="l"/>
                  <a:tab pos="1725081" algn="l"/>
                  <a:tab pos="2156732" algn="l"/>
                  <a:tab pos="2588384" algn="l"/>
                  <a:tab pos="3020035" algn="l"/>
                  <a:tab pos="3451686" algn="l"/>
                  <a:tab pos="3883337" algn="l"/>
                  <a:tab pos="4314989" algn="l"/>
                  <a:tab pos="4746640" algn="l"/>
                  <a:tab pos="5178292" algn="l"/>
                  <a:tab pos="5609943" algn="l"/>
                  <a:tab pos="6041595" algn="l"/>
                  <a:tab pos="6473246" algn="l"/>
                  <a:tab pos="6904898" algn="l"/>
                  <a:tab pos="7336549" algn="l"/>
                  <a:tab pos="7768201" algn="l"/>
                  <a:tab pos="8199852" algn="l"/>
                  <a:tab pos="8631503" algn="l"/>
                </a:tabLst>
              </a:pPr>
              <a:t>5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4340" name="Text Box 2"/>
          <p:cNvSpPr txBox="1">
            <a:spLocks noChangeArrowheads="1"/>
          </p:cNvSpPr>
          <p:nvPr/>
        </p:nvSpPr>
        <p:spPr bwMode="auto">
          <a:xfrm>
            <a:off x="1132441" y="741296"/>
            <a:ext cx="4532797" cy="3701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7856" tIns="43928" rIns="87856" bIns="43928" anchor="ctr"/>
          <a:lstStyle/>
          <a:p>
            <a:endParaRPr lang="fr-FR"/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/>
          </p:nvPr>
        </p:nvSpPr>
        <p:spPr>
          <a:xfrm>
            <a:off x="905952" y="4689772"/>
            <a:ext cx="4975132" cy="4432462"/>
          </a:xfrm>
          <a:noFill/>
          <a:ln/>
        </p:spPr>
        <p:txBody>
          <a:bodyPr wrap="none" anchor="ctr"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44D93674-3C49-48D2-862F-27863681279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79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1107996"/>
          </a:xfrm>
        </p:spPr>
        <p:txBody>
          <a:bodyPr>
            <a:spAutoFit/>
          </a:bodyPr>
          <a:lstStyle/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/>
          </p:nvPr>
        </p:nvSpPr>
        <p:spPr>
          <a:xfrm>
            <a:off x="467544" y="1340768"/>
            <a:ext cx="7849294" cy="1980029"/>
          </a:xfrm>
          <a:prstGeom prst="rect">
            <a:avLst/>
          </a:prstGeom>
        </p:spPr>
        <p:txBody>
          <a:bodyPr>
            <a:spAutoFit/>
          </a:bodyPr>
          <a:lstStyle>
            <a:lvl1pPr algn="just">
              <a:buFont typeface="Wingdings" pitchFamily="2" charset="2"/>
              <a:buChar char="Ø"/>
              <a:defRPr b="1"/>
            </a:lvl1pPr>
            <a:lvl2pPr algn="just">
              <a:buFont typeface="Wingdings" pitchFamily="2" charset="2"/>
              <a:buChar char="ü"/>
              <a:defRPr/>
            </a:lvl2pPr>
            <a:lvl3pPr algn="just">
              <a:buFont typeface="Courier New" pitchFamily="49" charset="0"/>
              <a:buChar char="o"/>
              <a:defRPr/>
            </a:lvl3pPr>
            <a:lvl4pPr algn="just">
              <a:buFont typeface="Arial" pitchFamily="34" charset="0"/>
              <a:buChar char="•"/>
              <a:defRPr/>
            </a:lvl4pPr>
            <a:lvl5pPr algn="just">
              <a:buFont typeface="Arial" pitchFamily="34" charset="0"/>
              <a:buChar char="•"/>
              <a:defRPr/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553998"/>
          </a:xfrm>
        </p:spPr>
        <p:txBody>
          <a:bodyPr>
            <a:sp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0772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dirty="0" smtClean="0"/>
              <a:t>Cliquez pour modifier le style des sous-titres du masque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1107996"/>
          </a:xfrm>
        </p:spPr>
        <p:txBody>
          <a:bodyPr>
            <a:sp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34200" y="211138"/>
            <a:ext cx="2209800" cy="6270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051" name="Picture 2"/>
          <p:cNvPicPr>
            <a:picLocks noChangeAspect="1" noChangeArrowheads="1"/>
          </p:cNvPicPr>
          <p:nvPr/>
        </p:nvPicPr>
        <p:blipFill>
          <a:blip r:embed="rId7" cstate="print"/>
          <a:srcRect r="76314" b="35187"/>
          <a:stretch>
            <a:fillRect/>
          </a:stretch>
        </p:blipFill>
        <p:spPr bwMode="auto">
          <a:xfrm>
            <a:off x="0" y="0"/>
            <a:ext cx="990600" cy="5410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052" name="Picture 3"/>
          <p:cNvPicPr>
            <a:picLocks noChangeAspect="1" noChangeArrowheads="1"/>
          </p:cNvPicPr>
          <p:nvPr/>
        </p:nvPicPr>
        <p:blipFill>
          <a:blip r:embed="rId8" cstate="print"/>
          <a:srcRect l="6786"/>
          <a:stretch>
            <a:fillRect/>
          </a:stretch>
        </p:blipFill>
        <p:spPr bwMode="auto">
          <a:xfrm>
            <a:off x="7007225" y="5975350"/>
            <a:ext cx="2136775" cy="882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05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87338" y="179388"/>
            <a:ext cx="6107112" cy="1422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3124200" y="6248400"/>
            <a:ext cx="2890838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52400" y="6248400"/>
            <a:ext cx="1900238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>
              <a:lnSpc>
                <a:spcPct val="93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fld id="{2FE73EEA-FEAE-46FF-A814-CA03DE60F4B7}" type="slidenum">
              <a:rPr lang="en-US" sz="1200">
                <a:solidFill>
                  <a:srgbClr val="5E9AA8"/>
                </a:solidFill>
                <a:latin typeface="Eurostile" charset="0"/>
              </a:rPr>
              <a:pPr>
                <a:lnSpc>
                  <a:spcPct val="93000"/>
                </a:lnSpc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t>‹N°›</a:t>
            </a:fld>
            <a:endParaRPr lang="en-US" sz="1200">
              <a:solidFill>
                <a:srgbClr val="5E9AA8"/>
              </a:solidFill>
              <a:latin typeface="Eurostil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667" r:id="rId3"/>
    <p:sldLayoutId id="2147483668" r:id="rId4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56004E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56004E"/>
          </a:solidFill>
          <a:latin typeface="EurostileTBla" pitchFamily="32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56004E"/>
          </a:solidFill>
          <a:latin typeface="EurostileTBla" pitchFamily="32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56004E"/>
          </a:solidFill>
          <a:latin typeface="EurostileTBla" pitchFamily="32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56004E"/>
          </a:solidFill>
          <a:latin typeface="EurostileTBla" pitchFamily="32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56004E"/>
          </a:solidFill>
          <a:latin typeface="EurostileTBla" pitchFamily="32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56004E"/>
          </a:solidFill>
          <a:latin typeface="EurostileTBla" pitchFamily="32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56004E"/>
          </a:solidFill>
          <a:latin typeface="EurostileTBla" pitchFamily="32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56004E"/>
          </a:solidFill>
          <a:latin typeface="EurostileTBla" pitchFamily="32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600">
          <a:solidFill>
            <a:srgbClr val="3C5868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3C5868"/>
          </a:solidFill>
          <a:latin typeface="+mn-lt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3C5868"/>
          </a:solidFill>
          <a:latin typeface="+mn-lt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3C5868"/>
          </a:solidFill>
          <a:latin typeface="+mn-lt"/>
          <a:cs typeface="+mn-cs"/>
        </a:defRPr>
      </a:lvl4pPr>
      <a:lvl5pPr marL="2057400" indent="-228600" algn="l" defTabSz="449263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3C5868"/>
          </a:solidFill>
          <a:latin typeface="+mn-lt"/>
          <a:cs typeface="+mn-cs"/>
        </a:defRPr>
      </a:lvl5pPr>
      <a:lvl6pPr marL="2514600" indent="-228600" algn="l" defTabSz="449263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3C5868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3C5868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3C5868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3C5868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685800" y="2130424"/>
            <a:ext cx="7772400" cy="553998"/>
          </a:xfrm>
        </p:spPr>
        <p:txBody>
          <a:bodyPr/>
          <a:lstStyle/>
          <a:p>
            <a:r>
              <a:rPr lang="fr-FR" dirty="0" smtClean="0"/>
              <a:t>Conduite de Projet</a:t>
            </a:r>
            <a:endParaRPr lang="fr-FR" dirty="0"/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971600" y="3501008"/>
            <a:ext cx="7016824" cy="1379865"/>
          </a:xfrm>
        </p:spPr>
        <p:txBody>
          <a:bodyPr/>
          <a:lstStyle/>
          <a:p>
            <a:r>
              <a:rPr lang="fr-FR" dirty="0" smtClean="0"/>
              <a:t>Jean-Luc Lambert, Flora </a:t>
            </a:r>
            <a:r>
              <a:rPr lang="fr-FR" dirty="0" err="1" smtClean="0"/>
              <a:t>Chaillon</a:t>
            </a:r>
            <a:r>
              <a:rPr lang="fr-FR" dirty="0" smtClean="0"/>
              <a:t>,</a:t>
            </a:r>
          </a:p>
          <a:p>
            <a:r>
              <a:rPr lang="fr-FR" sz="2000" dirty="0" smtClean="0"/>
              <a:t>jean-luc.lambert@unicaen.fr</a:t>
            </a:r>
          </a:p>
          <a:p>
            <a:r>
              <a:rPr lang="fr-FR" sz="2000" dirty="0" smtClean="0"/>
              <a:t>fchaillon.factory@gmail.com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Contenu de ce cours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251520" y="954395"/>
            <a:ext cx="8136904" cy="5806718"/>
          </a:xfrm>
        </p:spPr>
        <p:txBody>
          <a:bodyPr/>
          <a:lstStyle/>
          <a:p>
            <a:r>
              <a:rPr lang="fr-FR" sz="2000" dirty="0" smtClean="0"/>
              <a:t>Cours 1 Initiation à la conduite de projet agile (Jean-Luc Lambert)</a:t>
            </a:r>
          </a:p>
          <a:p>
            <a:pPr lvl="1"/>
            <a:r>
              <a:rPr lang="fr-FR" sz="1800" dirty="0" smtClean="0"/>
              <a:t>TD1 Réponse, </a:t>
            </a:r>
            <a:r>
              <a:rPr lang="fr-FR" sz="1800" dirty="0"/>
              <a:t>en équipes de 4 </a:t>
            </a:r>
            <a:r>
              <a:rPr lang="fr-FR" sz="1800" dirty="0" smtClean="0"/>
              <a:t>ou 5, </a:t>
            </a:r>
            <a:r>
              <a:rPr lang="fr-FR" sz="1800" dirty="0"/>
              <a:t>à </a:t>
            </a:r>
            <a:r>
              <a:rPr lang="fr-FR" sz="1800" dirty="0" smtClean="0"/>
              <a:t>une demande client </a:t>
            </a:r>
          </a:p>
          <a:p>
            <a:pPr lvl="1"/>
            <a:r>
              <a:rPr lang="fr-FR" sz="1800" dirty="0" smtClean="0"/>
              <a:t>TD2 Formation des équipes définitives, réponse à une nouvelle demande client fil rouge</a:t>
            </a:r>
          </a:p>
          <a:p>
            <a:r>
              <a:rPr lang="fr-FR" sz="2000" dirty="0" smtClean="0"/>
              <a:t>Cours 2 </a:t>
            </a:r>
            <a:r>
              <a:rPr lang="fr-FR" sz="2000" dirty="0"/>
              <a:t>Le développement en </a:t>
            </a:r>
            <a:r>
              <a:rPr lang="fr-FR" sz="2000" dirty="0" smtClean="0"/>
              <a:t>entreprise 1 (Flora </a:t>
            </a:r>
            <a:r>
              <a:rPr lang="fr-FR" sz="2000" dirty="0" err="1" smtClean="0"/>
              <a:t>Chaillon</a:t>
            </a:r>
            <a:r>
              <a:rPr lang="fr-FR" sz="2000" dirty="0" smtClean="0"/>
              <a:t>)</a:t>
            </a:r>
          </a:p>
          <a:p>
            <a:pPr lvl="1"/>
            <a:r>
              <a:rPr lang="fr-FR" sz="1800" dirty="0"/>
              <a:t>TD3 Prototypage </a:t>
            </a:r>
            <a:r>
              <a:rPr lang="fr-FR" sz="1800" dirty="0" smtClean="0"/>
              <a:t>du fil rouge</a:t>
            </a:r>
          </a:p>
          <a:p>
            <a:r>
              <a:rPr lang="fr-FR" sz="2000" dirty="0" smtClean="0"/>
              <a:t>Cours </a:t>
            </a:r>
            <a:r>
              <a:rPr lang="fr-FR" sz="2000" dirty="0" smtClean="0"/>
              <a:t>3 </a:t>
            </a:r>
            <a:r>
              <a:rPr lang="fr-FR" sz="2000" dirty="0"/>
              <a:t>Le développement en </a:t>
            </a:r>
            <a:r>
              <a:rPr lang="fr-FR" sz="2000" dirty="0" smtClean="0"/>
              <a:t>entreprise 2 </a:t>
            </a:r>
            <a:r>
              <a:rPr lang="fr-FR" sz="2000" dirty="0"/>
              <a:t>(Flora </a:t>
            </a:r>
            <a:r>
              <a:rPr lang="fr-FR" sz="2000" dirty="0" err="1"/>
              <a:t>Chaillon</a:t>
            </a:r>
            <a:r>
              <a:rPr lang="fr-FR" sz="2000" dirty="0"/>
              <a:t>)</a:t>
            </a:r>
            <a:endParaRPr lang="fr-FR" sz="2000" dirty="0" smtClean="0"/>
          </a:p>
          <a:p>
            <a:pPr lvl="1"/>
            <a:r>
              <a:rPr lang="fr-FR" sz="1600" dirty="0"/>
              <a:t>TD4 Du </a:t>
            </a:r>
            <a:r>
              <a:rPr lang="fr-FR" sz="1600" dirty="0" err="1"/>
              <a:t>Backlog</a:t>
            </a:r>
            <a:r>
              <a:rPr lang="fr-FR" sz="1600" dirty="0"/>
              <a:t> au plan de réalisation pour le fil rouge</a:t>
            </a:r>
          </a:p>
          <a:p>
            <a:pPr lvl="1"/>
            <a:r>
              <a:rPr lang="fr-FR" sz="1600" dirty="0" smtClean="0"/>
              <a:t>TD5 </a:t>
            </a:r>
            <a:r>
              <a:rPr lang="fr-FR" sz="1600" dirty="0" smtClean="0"/>
              <a:t>Réponse complète à une nouvelle demande client (</a:t>
            </a:r>
            <a:r>
              <a:rPr lang="fr-FR" sz="1600" dirty="0" err="1" smtClean="0"/>
              <a:t>Backlog</a:t>
            </a:r>
            <a:r>
              <a:rPr lang="fr-FR" sz="1600" dirty="0" smtClean="0"/>
              <a:t>, jalons, prototype, plan de réalisation…) </a:t>
            </a:r>
          </a:p>
          <a:p>
            <a:pPr lvl="1"/>
            <a:r>
              <a:rPr lang="fr-FR" sz="1800" dirty="0" smtClean="0"/>
              <a:t>TD6 Evaluation: Nouveau cas client, préparation d’une réponse en TD qui sera rendue et notée</a:t>
            </a:r>
          </a:p>
          <a:p>
            <a:r>
              <a:rPr lang="fr-FR" sz="2000" dirty="0" smtClean="0"/>
              <a:t>La note est donnée au groupe et tous les membres ont la même note à condition d’être présents au CC</a:t>
            </a:r>
          </a:p>
          <a:p>
            <a:r>
              <a:rPr lang="fr-FR" sz="2000" dirty="0"/>
              <a:t>Amenez vos portables en TD et soyez connectés (</a:t>
            </a:r>
            <a:r>
              <a:rPr lang="fr-FR" sz="2000" dirty="0" err="1"/>
              <a:t>Eduroam</a:t>
            </a:r>
            <a:r>
              <a:rPr lang="fr-FR" sz="2000" dirty="0"/>
              <a:t> ou connexion perso</a:t>
            </a:r>
            <a:r>
              <a:rPr lang="fr-FR" sz="2000" dirty="0" smtClean="0"/>
              <a:t>)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8537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Intervenants </a:t>
            </a:r>
            <a:r>
              <a:rPr lang="fr-FR" dirty="0" err="1" smtClean="0"/>
              <a:t>TDs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287338" y="980728"/>
            <a:ext cx="8604448" cy="5165517"/>
          </a:xfr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600" dirty="0" smtClean="0"/>
              <a:t>TD 1 et 2: </a:t>
            </a:r>
          </a:p>
          <a:p>
            <a:pPr lvl="1">
              <a:lnSpc>
                <a:spcPct val="150000"/>
              </a:lnSpc>
            </a:pPr>
            <a:r>
              <a:rPr lang="fr-FR" sz="3200" dirty="0" smtClean="0"/>
              <a:t>Jean-Luc Lambert</a:t>
            </a:r>
          </a:p>
          <a:p>
            <a:pPr>
              <a:lnSpc>
                <a:spcPct val="150000"/>
              </a:lnSpc>
            </a:pPr>
            <a:r>
              <a:rPr lang="fr-FR" sz="3600" dirty="0" smtClean="0"/>
              <a:t>TD 3, 4, et 5:</a:t>
            </a:r>
          </a:p>
          <a:p>
            <a:pPr lvl="1">
              <a:lnSpc>
                <a:spcPct val="150000"/>
              </a:lnSpc>
            </a:pPr>
            <a:r>
              <a:rPr lang="fr-FR" sz="3200" dirty="0"/>
              <a:t>Flora </a:t>
            </a:r>
            <a:r>
              <a:rPr lang="fr-FR" sz="3200" dirty="0" err="1" smtClean="0"/>
              <a:t>Chaillon</a:t>
            </a:r>
            <a:endParaRPr lang="fr-FR" sz="3200" dirty="0" smtClean="0"/>
          </a:p>
          <a:p>
            <a:pPr>
              <a:lnSpc>
                <a:spcPct val="150000"/>
              </a:lnSpc>
            </a:pPr>
            <a:r>
              <a:rPr lang="fr-FR" sz="3400" dirty="0" smtClean="0"/>
              <a:t>TD6 (le </a:t>
            </a:r>
            <a:r>
              <a:rPr lang="fr-FR" sz="3400" dirty="0" smtClean="0"/>
              <a:t>22 </a:t>
            </a:r>
            <a:r>
              <a:rPr lang="fr-FR" sz="3400" dirty="0" smtClean="0"/>
              <a:t>Novembre): c’est le contrôle</a:t>
            </a:r>
          </a:p>
          <a:p>
            <a:pPr lvl="1">
              <a:lnSpc>
                <a:spcPct val="150000"/>
              </a:lnSpc>
            </a:pPr>
            <a:r>
              <a:rPr lang="fr-FR" sz="3200" dirty="0" smtClean="0"/>
              <a:t>Jean-Luc et Françoise Lambert</a:t>
            </a:r>
          </a:p>
        </p:txBody>
      </p:sp>
    </p:spTree>
    <p:extLst>
      <p:ext uri="{BB962C8B-B14F-4D97-AF65-F5344CB8AC3E}">
        <p14:creationId xmlns:p14="http://schemas.microsoft.com/office/powerpoint/2010/main" val="274322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1107996"/>
          </a:xfrm>
        </p:spPr>
        <p:txBody>
          <a:bodyPr/>
          <a:lstStyle/>
          <a:p>
            <a:r>
              <a:rPr lang="fr-FR" dirty="0" smtClean="0"/>
              <a:t>L’</a:t>
            </a:r>
            <a:r>
              <a:rPr lang="fr-FR" dirty="0"/>
              <a:t>é</a:t>
            </a:r>
            <a:r>
              <a:rPr lang="fr-FR" dirty="0" smtClean="0"/>
              <a:t>preuve de Contrôle continu (TD 6)</a:t>
            </a:r>
            <a:endParaRPr lang="fr-FR" dirty="0"/>
          </a:p>
        </p:txBody>
      </p:sp>
      <p:pic>
        <p:nvPicPr>
          <p:cNvPr id="1026" name="Picture 2" descr="C:\Users\lambertj02\Pictures\Media Go\2017-10-28\DSC_0003_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400" y="1350360"/>
            <a:ext cx="7092000" cy="531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19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685800" y="2130424"/>
            <a:ext cx="7772400" cy="1107996"/>
          </a:xfrm>
        </p:spPr>
        <p:txBody>
          <a:bodyPr/>
          <a:lstStyle/>
          <a:p>
            <a:pPr algn="ctr"/>
            <a:r>
              <a:rPr lang="fr-FR" dirty="0" smtClean="0"/>
              <a:t>Cours 1</a:t>
            </a:r>
            <a:br>
              <a:rPr lang="fr-FR" dirty="0" smtClean="0"/>
            </a:br>
            <a:r>
              <a:rPr lang="fr-FR" dirty="0" smtClean="0"/>
              <a:t>Initiation </a:t>
            </a:r>
            <a:r>
              <a:rPr lang="fr-FR" dirty="0"/>
              <a:t>à la conduite de projet agile</a:t>
            </a:r>
          </a:p>
        </p:txBody>
      </p:sp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2573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Qui suis-je ?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sz="quarter" idx="10"/>
          </p:nvPr>
        </p:nvSpPr>
        <p:spPr>
          <a:xfrm>
            <a:off x="467544" y="908720"/>
            <a:ext cx="7849294" cy="5891356"/>
          </a:xfrm>
        </p:spPr>
        <p:txBody>
          <a:bodyPr/>
          <a:lstStyle/>
          <a:p>
            <a:r>
              <a:rPr lang="fr-FR" sz="2400" dirty="0" smtClean="0"/>
              <a:t>Jusqu’en 1999: Enseignant-chercheur en informatique à Caen</a:t>
            </a:r>
          </a:p>
          <a:p>
            <a:r>
              <a:rPr lang="fr-FR" sz="2400" dirty="0" smtClean="0"/>
              <a:t>Septembre 1999: Création de la société </a:t>
            </a:r>
            <a:r>
              <a:rPr lang="fr-FR" sz="2400" dirty="0" err="1" smtClean="0"/>
              <a:t>Valiosys</a:t>
            </a:r>
            <a:r>
              <a:rPr lang="fr-FR" sz="2400" dirty="0" smtClean="0"/>
              <a:t> à Caen</a:t>
            </a:r>
          </a:p>
          <a:p>
            <a:r>
              <a:rPr lang="fr-FR" sz="2400" dirty="0" smtClean="0"/>
              <a:t>Jusqu’en 2004: CTO de </a:t>
            </a:r>
            <a:r>
              <a:rPr lang="fr-FR" sz="2400" dirty="0" err="1" smtClean="0"/>
              <a:t>Valiosys</a:t>
            </a:r>
            <a:endParaRPr lang="fr-FR" sz="2400" dirty="0" smtClean="0"/>
          </a:p>
          <a:p>
            <a:r>
              <a:rPr lang="fr-FR" sz="2400" dirty="0" smtClean="0"/>
              <a:t>Septembre 2005: Entrée à la DSI de Bouygues Telecom</a:t>
            </a:r>
          </a:p>
          <a:p>
            <a:r>
              <a:rPr lang="fr-FR" sz="2400" dirty="0" smtClean="0"/>
              <a:t>Jusqu’en 2010: Chef de projet à Bouygues Telecom</a:t>
            </a:r>
          </a:p>
          <a:p>
            <a:r>
              <a:rPr lang="fr-FR" sz="2400" dirty="0" smtClean="0"/>
              <a:t>Septembre 2010: Retour à l’Université de Caen</a:t>
            </a:r>
          </a:p>
          <a:p>
            <a:r>
              <a:rPr lang="fr-FR" sz="2400" dirty="0" smtClean="0"/>
              <a:t>Jusqu’à aujourd’hui: enseignement du </a:t>
            </a:r>
            <a:r>
              <a:rPr lang="fr-FR" sz="2400" dirty="0" err="1" smtClean="0"/>
              <a:t>mana-gement</a:t>
            </a:r>
            <a:r>
              <a:rPr lang="fr-FR" sz="2400" dirty="0" smtClean="0"/>
              <a:t> de projet à l’Université</a:t>
            </a:r>
          </a:p>
          <a:p>
            <a:r>
              <a:rPr lang="fr-FR" sz="2400" dirty="0" smtClean="0"/>
              <a:t>Président du Club Agile Normandie (créé en juin 2012)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62213"/>
          </a:xfrm>
        </p:spPr>
        <p:txBody>
          <a:bodyPr/>
          <a:lstStyle/>
          <a:p>
            <a:pPr algn="ctr"/>
            <a:r>
              <a:rPr lang="fr-FR" sz="8000" dirty="0" smtClean="0"/>
              <a:t>Qu’est-ce qu’un projet ?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321413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842497"/>
            <a:ext cx="7772400" cy="2954655"/>
          </a:xfrm>
        </p:spPr>
        <p:txBody>
          <a:bodyPr/>
          <a:lstStyle/>
          <a:p>
            <a:pPr algn="ctr"/>
            <a:r>
              <a:rPr lang="fr-FR" sz="4800" dirty="0"/>
              <a:t>Un projet est un effort </a:t>
            </a:r>
            <a:r>
              <a:rPr lang="fr-FR" sz="4800" b="1" dirty="0"/>
              <a:t>temporaire</a:t>
            </a:r>
            <a:r>
              <a:rPr lang="fr-FR" sz="4800" dirty="0"/>
              <a:t> visant à créer un produit, un service ou un résultat </a:t>
            </a:r>
            <a:r>
              <a:rPr lang="fr-FR" sz="4800" b="1" dirty="0" smtClean="0"/>
              <a:t>unique </a:t>
            </a:r>
            <a:r>
              <a:rPr lang="fr-FR" sz="4800" dirty="0" smtClean="0"/>
              <a:t>(PMI)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400929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Projets vs opérations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67544" y="1196752"/>
            <a:ext cx="7849294" cy="4552528"/>
          </a:xfrm>
        </p:spPr>
        <p:txBody>
          <a:bodyPr/>
          <a:lstStyle/>
          <a:p>
            <a:r>
              <a:rPr lang="fr-FR" dirty="0" smtClean="0"/>
              <a:t>Exemples d’opérations:</a:t>
            </a:r>
          </a:p>
          <a:p>
            <a:pPr lvl="1"/>
            <a:r>
              <a:rPr lang="fr-FR" dirty="0" smtClean="0"/>
              <a:t>Vendre des forfaits mobile</a:t>
            </a:r>
          </a:p>
          <a:p>
            <a:pPr lvl="1"/>
            <a:r>
              <a:rPr lang="fr-FR" dirty="0"/>
              <a:t>Fabriquer </a:t>
            </a:r>
            <a:r>
              <a:rPr lang="fr-FR" dirty="0" smtClean="0"/>
              <a:t>des automobiles</a:t>
            </a:r>
            <a:endParaRPr lang="fr-FR" dirty="0"/>
          </a:p>
          <a:p>
            <a:pPr lvl="1"/>
            <a:r>
              <a:rPr lang="fr-FR" dirty="0" smtClean="0"/>
              <a:t>Travailler à la </a:t>
            </a:r>
            <a:r>
              <a:rPr lang="fr-FR" dirty="0" err="1" smtClean="0"/>
              <a:t>hot-line</a:t>
            </a:r>
            <a:endParaRPr lang="fr-FR" dirty="0" smtClean="0"/>
          </a:p>
          <a:p>
            <a:pPr lvl="1"/>
            <a:r>
              <a:rPr lang="fr-FR" dirty="0" smtClean="0"/>
              <a:t>Gérer la QOS du SI</a:t>
            </a:r>
            <a:endParaRPr lang="fr-FR" dirty="0"/>
          </a:p>
          <a:p>
            <a:r>
              <a:rPr lang="fr-FR" dirty="0" smtClean="0"/>
              <a:t>Exemples de projets:</a:t>
            </a:r>
          </a:p>
          <a:p>
            <a:pPr lvl="1"/>
            <a:r>
              <a:rPr lang="fr-FR" dirty="0" smtClean="0"/>
              <a:t>Réorganiser un service</a:t>
            </a:r>
          </a:p>
          <a:p>
            <a:pPr lvl="1"/>
            <a:r>
              <a:rPr lang="fr-FR" dirty="0" smtClean="0"/>
              <a:t>Mise en place d’un nouveau CRM</a:t>
            </a:r>
          </a:p>
          <a:p>
            <a:pPr lvl="1"/>
            <a:r>
              <a:rPr lang="fr-FR" dirty="0" smtClean="0"/>
              <a:t>Remplacement </a:t>
            </a:r>
            <a:r>
              <a:rPr lang="fr-FR" dirty="0"/>
              <a:t>d’un serveur </a:t>
            </a:r>
            <a:r>
              <a:rPr lang="fr-FR" dirty="0" smtClean="0"/>
              <a:t>informatique</a:t>
            </a:r>
            <a:endParaRPr lang="fr-FR" dirty="0"/>
          </a:p>
          <a:p>
            <a:pPr lvl="1"/>
            <a:r>
              <a:rPr lang="fr-FR" dirty="0" smtClean="0"/>
              <a:t>Développement d’un nouvel outil de facturation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756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Précisons…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467544" y="1340768"/>
            <a:ext cx="7849294" cy="4826962"/>
          </a:xfrm>
        </p:spPr>
        <p:txBody>
          <a:bodyPr/>
          <a:lstStyle/>
          <a:p>
            <a:r>
              <a:rPr lang="fr-FR" dirty="0" smtClean="0"/>
              <a:t>Un projet est temporaire (contrairement au opérations) il a donc un début et une fin</a:t>
            </a:r>
          </a:p>
          <a:p>
            <a:pPr lvl="1"/>
            <a:r>
              <a:rPr lang="fr-FR" dirty="0" smtClean="0"/>
              <a:t>Le  projet ne peut s’</a:t>
            </a:r>
            <a:r>
              <a:rPr lang="fr-FR" dirty="0"/>
              <a:t>é</a:t>
            </a:r>
            <a:r>
              <a:rPr lang="fr-FR" dirty="0" smtClean="0"/>
              <a:t>terniser, il doit progresser de façon visible</a:t>
            </a:r>
          </a:p>
          <a:p>
            <a:r>
              <a:rPr lang="fr-FR" dirty="0" smtClean="0"/>
              <a:t>Un projet a pour objectif de produire quelque chose</a:t>
            </a:r>
          </a:p>
          <a:p>
            <a:pPr lvl="1"/>
            <a:r>
              <a:rPr lang="fr-FR" dirty="0" smtClean="0"/>
              <a:t>Il faut donc définir ce résultat au début du projet</a:t>
            </a:r>
          </a:p>
          <a:p>
            <a:r>
              <a:rPr lang="fr-FR" dirty="0" smtClean="0"/>
              <a:t>Ce que produit le projet n’a jamais été fait avant</a:t>
            </a:r>
          </a:p>
          <a:p>
            <a:pPr lvl="1"/>
            <a:r>
              <a:rPr lang="fr-FR" dirty="0" smtClean="0"/>
              <a:t>Il comporte donc une grande part d’incertitude</a:t>
            </a:r>
          </a:p>
          <a:p>
            <a:pPr lvl="1"/>
            <a:r>
              <a:rPr lang="fr-FR" dirty="0" smtClean="0"/>
              <a:t>Et c’est 3 fois plus vrai pour les projets logiciels</a:t>
            </a:r>
          </a:p>
        </p:txBody>
      </p:sp>
    </p:spTree>
    <p:extLst>
      <p:ext uri="{BB962C8B-B14F-4D97-AF65-F5344CB8AC3E}">
        <p14:creationId xmlns:p14="http://schemas.microsoft.com/office/powerpoint/2010/main" val="53810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539552" y="1268760"/>
            <a:ext cx="7772400" cy="4924425"/>
          </a:xfrm>
        </p:spPr>
        <p:txBody>
          <a:bodyPr/>
          <a:lstStyle/>
          <a:p>
            <a:pPr algn="ctr"/>
            <a:r>
              <a:rPr lang="fr-FR" sz="8000" dirty="0" smtClean="0"/>
              <a:t>Les particularités des projets de développement de logiciels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137659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1- Vous ne serez pas seul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0"/>
          </p:nvPr>
        </p:nvSpPr>
        <p:spPr>
          <a:xfrm>
            <a:off x="287338" y="1196752"/>
            <a:ext cx="7849294" cy="5132174"/>
          </a:xfrm>
        </p:spPr>
        <p:txBody>
          <a:bodyPr/>
          <a:lstStyle/>
          <a:p>
            <a:r>
              <a:rPr lang="fr-FR" dirty="0" smtClean="0"/>
              <a:t>Plein de personnes seront concernées par votre projet</a:t>
            </a:r>
          </a:p>
          <a:p>
            <a:pPr lvl="1"/>
            <a:r>
              <a:rPr lang="fr-FR" dirty="0" smtClean="0"/>
              <a:t>Les client et les usagers</a:t>
            </a:r>
          </a:p>
          <a:p>
            <a:pPr lvl="1"/>
            <a:r>
              <a:rPr lang="fr-FR" dirty="0" smtClean="0"/>
              <a:t>Le chef de projet</a:t>
            </a:r>
          </a:p>
          <a:p>
            <a:pPr lvl="2"/>
            <a:r>
              <a:rPr lang="fr-FR" dirty="0" smtClean="0"/>
              <a:t>Qui est responsable de la réussite du projet</a:t>
            </a:r>
            <a:endParaRPr lang="fr-FR" dirty="0"/>
          </a:p>
          <a:p>
            <a:pPr lvl="1"/>
            <a:r>
              <a:rPr lang="fr-FR" dirty="0" smtClean="0"/>
              <a:t>Les autres développeurs</a:t>
            </a:r>
          </a:p>
          <a:p>
            <a:pPr lvl="2"/>
            <a:r>
              <a:rPr lang="fr-FR" dirty="0" smtClean="0"/>
              <a:t>Avec lesquels vous devrez vous mettre d’accord</a:t>
            </a:r>
          </a:p>
          <a:p>
            <a:pPr lvl="1"/>
            <a:r>
              <a:rPr lang="fr-FR" dirty="0" smtClean="0"/>
              <a:t>Les testeurs</a:t>
            </a:r>
          </a:p>
          <a:p>
            <a:pPr lvl="2"/>
            <a:r>
              <a:rPr lang="fr-FR" dirty="0" smtClean="0"/>
              <a:t>Eh oui un projet cela se teste ! (30% du coût)</a:t>
            </a:r>
          </a:p>
          <a:p>
            <a:pPr lvl="1"/>
            <a:r>
              <a:rPr lang="fr-FR" dirty="0" smtClean="0"/>
              <a:t>La production</a:t>
            </a:r>
          </a:p>
          <a:p>
            <a:pPr lvl="1"/>
            <a:r>
              <a:rPr lang="fr-FR" dirty="0" smtClean="0"/>
              <a:t>Le DPO (protection des données)</a:t>
            </a:r>
          </a:p>
          <a:p>
            <a:pPr lvl="1"/>
            <a:r>
              <a:rPr lang="fr-FR" dirty="0" smtClean="0"/>
              <a:t>Le RSSI</a:t>
            </a:r>
          </a:p>
        </p:txBody>
      </p:sp>
    </p:spTree>
    <p:extLst>
      <p:ext uri="{BB962C8B-B14F-4D97-AF65-F5344CB8AC3E}">
        <p14:creationId xmlns:p14="http://schemas.microsoft.com/office/powerpoint/2010/main" val="130772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/>
              <a:t>2</a:t>
            </a:r>
            <a:r>
              <a:rPr lang="fr-FR" dirty="0" smtClean="0"/>
              <a:t>- Votre code non plus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0"/>
          </p:nvPr>
        </p:nvSpPr>
        <p:spPr>
          <a:xfrm>
            <a:off x="287338" y="1196752"/>
            <a:ext cx="7849294" cy="4998804"/>
          </a:xfrm>
        </p:spPr>
        <p:txBody>
          <a:bodyPr/>
          <a:lstStyle/>
          <a:p>
            <a:r>
              <a:rPr lang="fr-FR" dirty="0" smtClean="0"/>
              <a:t>Votre code devra s’intégrer à l’existant:</a:t>
            </a:r>
            <a:endParaRPr lang="fr-FR" dirty="0"/>
          </a:p>
          <a:p>
            <a:pPr lvl="1"/>
            <a:r>
              <a:rPr lang="fr-FR" dirty="0"/>
              <a:t>Bases de données</a:t>
            </a:r>
          </a:p>
          <a:p>
            <a:pPr lvl="1"/>
            <a:r>
              <a:rPr lang="fr-FR" dirty="0"/>
              <a:t>Progiciel</a:t>
            </a:r>
          </a:p>
          <a:p>
            <a:pPr lvl="1"/>
            <a:r>
              <a:rPr lang="fr-FR" dirty="0"/>
              <a:t>Architecture et les modèles de données existants</a:t>
            </a:r>
          </a:p>
          <a:p>
            <a:r>
              <a:rPr lang="fr-FR" dirty="0" smtClean="0"/>
              <a:t>Et faire avec:</a:t>
            </a:r>
            <a:endParaRPr lang="fr-FR" dirty="0"/>
          </a:p>
          <a:p>
            <a:pPr lvl="1"/>
            <a:r>
              <a:rPr lang="fr-FR" dirty="0"/>
              <a:t>L’existant non modifiable (COBOL, FORTRAN)</a:t>
            </a:r>
          </a:p>
          <a:p>
            <a:pPr lvl="1"/>
            <a:r>
              <a:rPr lang="fr-FR" dirty="0"/>
              <a:t>La dette technique</a:t>
            </a:r>
          </a:p>
          <a:p>
            <a:pPr lvl="1"/>
            <a:r>
              <a:rPr lang="fr-FR" dirty="0"/>
              <a:t>Le code non commenté</a:t>
            </a:r>
          </a:p>
          <a:p>
            <a:pPr lvl="1"/>
            <a:r>
              <a:rPr lang="fr-FR" dirty="0"/>
              <a:t>Les fuites mémoire</a:t>
            </a:r>
          </a:p>
          <a:p>
            <a:pPr lvl="1"/>
            <a:r>
              <a:rPr lang="fr-FR" dirty="0"/>
              <a:t>Le « </a:t>
            </a:r>
            <a:r>
              <a:rPr lang="fr-FR" dirty="0" err="1"/>
              <a:t>legacy</a:t>
            </a:r>
            <a:r>
              <a:rPr lang="fr-FR" dirty="0"/>
              <a:t> code »</a:t>
            </a:r>
          </a:p>
          <a:p>
            <a:pPr lvl="1"/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1304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1107996"/>
          </a:xfrm>
        </p:spPr>
        <p:txBody>
          <a:bodyPr/>
          <a:lstStyle/>
          <a:p>
            <a:r>
              <a:rPr lang="fr-FR" dirty="0" smtClean="0"/>
              <a:t>3- Et vous serez attendu par le client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0"/>
          </p:nvPr>
        </p:nvSpPr>
        <p:spPr>
          <a:xfrm>
            <a:off x="287338" y="1556792"/>
            <a:ext cx="7849294" cy="5155257"/>
          </a:xfrm>
        </p:spPr>
        <p:txBody>
          <a:bodyPr/>
          <a:lstStyle/>
          <a:p>
            <a:r>
              <a:rPr lang="fr-FR" dirty="0" smtClean="0"/>
              <a:t>Qui voudra que:</a:t>
            </a:r>
          </a:p>
          <a:p>
            <a:pPr lvl="1"/>
            <a:r>
              <a:rPr lang="fr-FR" dirty="0" smtClean="0"/>
              <a:t>Cela corresponde à ce qu’il a demandé</a:t>
            </a:r>
          </a:p>
          <a:p>
            <a:pPr lvl="1"/>
            <a:r>
              <a:rPr lang="fr-FR" dirty="0" smtClean="0"/>
              <a:t>Cela arrive en temps et en heure</a:t>
            </a:r>
          </a:p>
          <a:p>
            <a:pPr lvl="1"/>
            <a:r>
              <a:rPr lang="fr-FR" dirty="0" smtClean="0"/>
              <a:t>Cela marche sans bug</a:t>
            </a:r>
          </a:p>
          <a:p>
            <a:pPr lvl="1"/>
            <a:r>
              <a:rPr lang="fr-FR" dirty="0" smtClean="0"/>
              <a:t>Ce soit facile à utiliser</a:t>
            </a:r>
          </a:p>
          <a:p>
            <a:pPr lvl="1"/>
            <a:r>
              <a:rPr lang="fr-FR" dirty="0"/>
              <a:t>L</a:t>
            </a:r>
            <a:r>
              <a:rPr lang="fr-FR" dirty="0" smtClean="0"/>
              <a:t>’ergonomie soit top !</a:t>
            </a:r>
          </a:p>
          <a:p>
            <a:pPr lvl="1"/>
            <a:r>
              <a:rPr lang="fr-FR" dirty="0"/>
              <a:t>C</a:t>
            </a:r>
            <a:r>
              <a:rPr lang="fr-FR" dirty="0" smtClean="0"/>
              <a:t>e soit facile à installer</a:t>
            </a:r>
          </a:p>
          <a:p>
            <a:r>
              <a:rPr lang="fr-FR" dirty="0" smtClean="0"/>
              <a:t>Et aussi…</a:t>
            </a:r>
          </a:p>
          <a:p>
            <a:pPr lvl="1"/>
            <a:r>
              <a:rPr lang="fr-FR" dirty="0" smtClean="0"/>
              <a:t>Que vous puissiez intégrer rapidement toutes ses nouvelles demandes</a:t>
            </a:r>
          </a:p>
          <a:p>
            <a:pPr lvl="2"/>
            <a:r>
              <a:rPr lang="fr-FR" dirty="0" smtClean="0"/>
              <a:t>Même lorsque cela demande de modifier un code que vous n’avez pas écrit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905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539552" y="1268760"/>
            <a:ext cx="7772400" cy="3693319"/>
          </a:xfrm>
        </p:spPr>
        <p:txBody>
          <a:bodyPr/>
          <a:lstStyle/>
          <a:p>
            <a:pPr algn="ctr"/>
            <a:r>
              <a:rPr lang="fr-FR" sz="8000" dirty="0"/>
              <a:t>Et sans précautions on </a:t>
            </a:r>
            <a:r>
              <a:rPr lang="fr-FR" sz="8000" dirty="0" smtClean="0"/>
              <a:t>obtient…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143293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9"/>
            <a:ext cx="7020966" cy="801340"/>
          </a:xfrm>
        </p:spPr>
        <p:txBody>
          <a:bodyPr/>
          <a:lstStyle/>
          <a:p>
            <a:r>
              <a:rPr lang="fr-FR" dirty="0"/>
              <a:t>Des bugs </a:t>
            </a:r>
            <a:r>
              <a:rPr lang="fr-FR" dirty="0" smtClean="0"/>
              <a:t>impossibles à </a:t>
            </a:r>
            <a:r>
              <a:rPr lang="fr-FR" dirty="0"/>
              <a:t>corriger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141338" y="646238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smtClean="0">
                <a:solidFill>
                  <a:schemeClr val="tx1"/>
                </a:solidFill>
              </a:rPr>
              <a:t>Source</a:t>
            </a:r>
            <a:r>
              <a:rPr lang="fr-FR" sz="1600" dirty="0">
                <a:solidFill>
                  <a:schemeClr val="tx1"/>
                </a:solidFill>
              </a:rPr>
              <a:t>: https://www.francetvinfo.fr/</a:t>
            </a:r>
          </a:p>
        </p:txBody>
      </p:sp>
      <p:pic>
        <p:nvPicPr>
          <p:cNvPr id="6146" name="Picture 2" descr="https://www.francetvinfo.fr/image/759r5jt2b-103a/580/326/102635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94384"/>
            <a:ext cx="8838769" cy="49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41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1107996"/>
          </a:xfrm>
        </p:spPr>
        <p:txBody>
          <a:bodyPr/>
          <a:lstStyle/>
          <a:p>
            <a:r>
              <a:rPr lang="fr-FR" dirty="0"/>
              <a:t>Un projet </a:t>
            </a:r>
            <a:r>
              <a:rPr lang="fr-FR" dirty="0" smtClean="0"/>
              <a:t>interminable…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141338" y="646238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smtClean="0">
                <a:solidFill>
                  <a:schemeClr val="tx1"/>
                </a:solidFill>
              </a:rPr>
              <a:t>Source</a:t>
            </a:r>
            <a:r>
              <a:rPr lang="fr-FR" sz="1600" dirty="0">
                <a:solidFill>
                  <a:schemeClr val="tx1"/>
                </a:solidFill>
              </a:rPr>
              <a:t>: https://www.facebook.com/avea28</a:t>
            </a:r>
          </a:p>
        </p:txBody>
      </p:sp>
      <p:pic>
        <p:nvPicPr>
          <p:cNvPr id="7170" name="Picture 2" descr="Peut être une image de texte qui dit ’Allez! Encore un petit effort J'y suis presque... Eh, merde!’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50" y="908720"/>
            <a:ext cx="7264575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52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/>
              <a:t>Une </a:t>
            </a:r>
            <a:r>
              <a:rPr lang="fr-FR" dirty="0" smtClean="0"/>
              <a:t>ambiance pourrie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141338" y="646238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smtClean="0">
                <a:solidFill>
                  <a:schemeClr val="tx1"/>
                </a:solidFill>
              </a:rPr>
              <a:t>Source</a:t>
            </a:r>
            <a:r>
              <a:rPr lang="fr-FR" sz="1600" dirty="0">
                <a:solidFill>
                  <a:schemeClr val="tx1"/>
                </a:solidFill>
              </a:rPr>
              <a:t>: https://www.jourdevoyance.com/</a:t>
            </a:r>
          </a:p>
        </p:txBody>
      </p:sp>
      <p:pic>
        <p:nvPicPr>
          <p:cNvPr id="2052" name="Picture 4" descr="https://www.jourdevoyance.com/images/reve/2017/05/rever-d-une-bagar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42384"/>
            <a:ext cx="8280000" cy="5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53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client furibard qui ne reviendra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1338" y="646238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smtClean="0">
                <a:solidFill>
                  <a:schemeClr val="tx1"/>
                </a:solidFill>
              </a:rPr>
              <a:t>Source</a:t>
            </a:r>
            <a:r>
              <a:rPr lang="fr-FR" sz="1600" dirty="0">
                <a:solidFill>
                  <a:schemeClr val="tx1"/>
                </a:solidFill>
              </a:rPr>
              <a:t>: http://vendeurs.blogspot.com/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347915"/>
            <a:ext cx="4059483" cy="50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4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/>
              <a:t>Le chef de projet en </a:t>
            </a:r>
            <a:r>
              <a:rPr lang="fr-FR" dirty="0" err="1"/>
              <a:t>burn-out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376264" y="646238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err="1">
                <a:solidFill>
                  <a:schemeClr val="tx1"/>
                </a:solidFill>
              </a:rPr>
              <a:t>Source:https</a:t>
            </a:r>
            <a:r>
              <a:rPr lang="fr-FR" sz="1600" dirty="0">
                <a:solidFill>
                  <a:schemeClr val="tx1"/>
                </a:solidFill>
              </a:rPr>
              <a:t>://fr.dreamstime.com//</a:t>
            </a:r>
          </a:p>
        </p:txBody>
      </p:sp>
      <p:pic>
        <p:nvPicPr>
          <p:cNvPr id="4098" name="Picture 2" descr="Homme d'affaires pen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338" y="1017089"/>
            <a:ext cx="4131360" cy="54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24128" y="879885"/>
            <a:ext cx="792088" cy="5751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fr-FR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50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RSSI qui dit </a:t>
            </a:r>
            <a:r>
              <a:rPr lang="fr-FR" dirty="0" smtClean="0"/>
              <a:t>…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pic>
        <p:nvPicPr>
          <p:cNvPr id="2050" name="Picture 2" descr="dire n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1287384"/>
            <a:ext cx="8280000" cy="5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41338" y="646238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smtClean="0">
                <a:solidFill>
                  <a:schemeClr val="tx1"/>
                </a:solidFill>
              </a:rPr>
              <a:t>Source: https</a:t>
            </a:r>
            <a:r>
              <a:rPr lang="fr-FR" sz="1600" dirty="0">
                <a:solidFill>
                  <a:schemeClr val="tx1"/>
                </a:solidFill>
              </a:rPr>
              <a:t>://www.manager-go.com/</a:t>
            </a:r>
          </a:p>
        </p:txBody>
      </p:sp>
    </p:spTree>
    <p:extLst>
      <p:ext uri="{BB962C8B-B14F-4D97-AF65-F5344CB8AC3E}">
        <p14:creationId xmlns:p14="http://schemas.microsoft.com/office/powerpoint/2010/main" val="161948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1107996"/>
          </a:xfrm>
        </p:spPr>
        <p:txBody>
          <a:bodyPr/>
          <a:lstStyle/>
          <a:p>
            <a:r>
              <a:rPr lang="fr-FR" dirty="0"/>
              <a:t>La production qui </a:t>
            </a:r>
            <a:r>
              <a:rPr lang="fr-FR" dirty="0" smtClean="0"/>
              <a:t>dit …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pic>
        <p:nvPicPr>
          <p:cNvPr id="2050" name="Picture 2" descr="dire n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1287384"/>
            <a:ext cx="8280000" cy="5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41338" y="646238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smtClean="0">
                <a:solidFill>
                  <a:schemeClr val="tx1"/>
                </a:solidFill>
              </a:rPr>
              <a:t>Source: https</a:t>
            </a:r>
            <a:r>
              <a:rPr lang="fr-FR" sz="1600" dirty="0">
                <a:solidFill>
                  <a:schemeClr val="tx1"/>
                </a:solidFill>
              </a:rPr>
              <a:t>://www.manager-go.com/</a:t>
            </a:r>
          </a:p>
        </p:txBody>
      </p:sp>
    </p:spTree>
    <p:extLst>
      <p:ext uri="{BB962C8B-B14F-4D97-AF65-F5344CB8AC3E}">
        <p14:creationId xmlns:p14="http://schemas.microsoft.com/office/powerpoint/2010/main" val="249398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1107996"/>
          </a:xfrm>
        </p:spPr>
        <p:txBody>
          <a:bodyPr/>
          <a:lstStyle/>
          <a:p>
            <a:r>
              <a:rPr lang="fr-FR" dirty="0" smtClean="0"/>
              <a:t>Le DPO qui dit …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pic>
        <p:nvPicPr>
          <p:cNvPr id="2050" name="Picture 2" descr="dire n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1287384"/>
            <a:ext cx="8280000" cy="5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41338" y="646238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smtClean="0">
                <a:solidFill>
                  <a:schemeClr val="tx1"/>
                </a:solidFill>
              </a:rPr>
              <a:t>Source: https</a:t>
            </a:r>
            <a:r>
              <a:rPr lang="fr-FR" sz="1600" dirty="0">
                <a:solidFill>
                  <a:schemeClr val="tx1"/>
                </a:solidFill>
              </a:rPr>
              <a:t>://www.manager-go.com/</a:t>
            </a:r>
          </a:p>
        </p:txBody>
      </p:sp>
    </p:spTree>
    <p:extLst>
      <p:ext uri="{BB962C8B-B14F-4D97-AF65-F5344CB8AC3E}">
        <p14:creationId xmlns:p14="http://schemas.microsoft.com/office/powerpoint/2010/main" val="337533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9"/>
            <a:ext cx="6107112" cy="678810"/>
          </a:xfrm>
        </p:spPr>
        <p:txBody>
          <a:bodyPr/>
          <a:lstStyle/>
          <a:p>
            <a:r>
              <a:rPr lang="fr-FR" dirty="0" smtClean="0"/>
              <a:t>1 </a:t>
            </a:r>
            <a:r>
              <a:rPr lang="fr-FR" dirty="0"/>
              <a:t>000 000 € de perdus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411760" y="6309320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err="1">
                <a:solidFill>
                  <a:schemeClr val="tx1"/>
                </a:solidFill>
              </a:rPr>
              <a:t>Source:https</a:t>
            </a:r>
            <a:r>
              <a:rPr lang="fr-FR" sz="1600" dirty="0">
                <a:solidFill>
                  <a:schemeClr val="tx1"/>
                </a:solidFill>
              </a:rPr>
              <a:t>://</a:t>
            </a:r>
            <a:r>
              <a:rPr lang="fr-FR" sz="1600" dirty="0" smtClean="0">
                <a:solidFill>
                  <a:schemeClr val="tx1"/>
                </a:solidFill>
              </a:rPr>
              <a:t>fr.dreamstime.com</a:t>
            </a:r>
            <a:endParaRPr lang="fr-FR" sz="1600" dirty="0">
              <a:solidFill>
                <a:schemeClr val="tx1"/>
              </a:solidFill>
            </a:endParaRPr>
          </a:p>
        </p:txBody>
      </p:sp>
      <p:pic>
        <p:nvPicPr>
          <p:cNvPr id="3074" name="Picture 2" descr="L'euro argent s'envole le vol d'isolemen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308" y="1196752"/>
            <a:ext cx="5384059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403648" y="5301208"/>
            <a:ext cx="6552728" cy="10081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fr-FR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653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Et il n’y a plus qu’à…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2141338" y="646238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600" dirty="0" smtClean="0">
                <a:solidFill>
                  <a:schemeClr val="tx1"/>
                </a:solidFill>
              </a:rPr>
              <a:t>Source</a:t>
            </a:r>
            <a:r>
              <a:rPr lang="fr-FR" sz="1600" dirty="0">
                <a:solidFill>
                  <a:schemeClr val="tx1"/>
                </a:solidFill>
              </a:rPr>
              <a:t>: http://www.francotech.net//</a:t>
            </a:r>
          </a:p>
        </p:txBody>
      </p:sp>
      <p:pic>
        <p:nvPicPr>
          <p:cNvPr id="9218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11" y="908720"/>
            <a:ext cx="7509254" cy="53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96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11560" y="1484784"/>
            <a:ext cx="7772400" cy="3693319"/>
          </a:xfrm>
        </p:spPr>
        <p:txBody>
          <a:bodyPr/>
          <a:lstStyle/>
          <a:p>
            <a:pPr algn="ctr"/>
            <a:r>
              <a:rPr lang="fr-FR" sz="8000" dirty="0" smtClean="0"/>
              <a:t>Comment</a:t>
            </a:r>
            <a:br>
              <a:rPr lang="fr-FR" sz="8000" dirty="0" smtClean="0"/>
            </a:br>
            <a:r>
              <a:rPr lang="fr-FR" sz="8000" dirty="0" smtClean="0"/>
              <a:t>fait-on pour</a:t>
            </a:r>
            <a:br>
              <a:rPr lang="fr-FR" sz="8000" dirty="0" smtClean="0"/>
            </a:br>
            <a:r>
              <a:rPr lang="fr-FR" sz="8000" dirty="0" smtClean="0"/>
              <a:t>éviter cela ?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423932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Un grand principe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0"/>
          </p:nvPr>
        </p:nvSpPr>
        <p:spPr>
          <a:xfrm>
            <a:off x="467544" y="1340768"/>
            <a:ext cx="7849294" cy="4026743"/>
          </a:xfrm>
        </p:spPr>
        <p:txBody>
          <a:bodyPr/>
          <a:lstStyle/>
          <a:p>
            <a:pPr marL="0" indent="0"/>
            <a:r>
              <a:rPr lang="fr-FR" dirty="0"/>
              <a:t>Vérifier en continu que:</a:t>
            </a:r>
          </a:p>
          <a:p>
            <a:pPr marL="400050" lvl="1" indent="0"/>
            <a:r>
              <a:rPr lang="fr-FR" dirty="0"/>
              <a:t>L’équipe </a:t>
            </a:r>
            <a:r>
              <a:rPr lang="fr-FR" dirty="0" smtClean="0"/>
              <a:t>va bien et est réactive</a:t>
            </a:r>
            <a:endParaRPr lang="fr-FR" dirty="0"/>
          </a:p>
          <a:p>
            <a:pPr marL="400050" lvl="1" indent="0"/>
            <a:r>
              <a:rPr lang="fr-FR" dirty="0" smtClean="0"/>
              <a:t>Les </a:t>
            </a:r>
            <a:r>
              <a:rPr lang="fr-FR" dirty="0"/>
              <a:t>parties prenantes sont satisfaites</a:t>
            </a:r>
          </a:p>
          <a:p>
            <a:pPr marL="400050" lvl="1" indent="0"/>
            <a:r>
              <a:rPr lang="fr-FR" dirty="0"/>
              <a:t>Le client apprécie le produit</a:t>
            </a:r>
          </a:p>
          <a:p>
            <a:pPr marL="400050" lvl="1" indent="0"/>
            <a:r>
              <a:rPr lang="fr-FR" dirty="0"/>
              <a:t>Le produit fonctionne dans son environnement technique</a:t>
            </a:r>
          </a:p>
          <a:p>
            <a:r>
              <a:rPr lang="fr-FR" dirty="0" smtClean="0"/>
              <a:t>Pour cela on livre régulièrement un produit incomplet qui fonctionne</a:t>
            </a:r>
          </a:p>
          <a:p>
            <a:r>
              <a:rPr lang="fr-FR" dirty="0" smtClean="0"/>
              <a:t>C’est l’approche agile !</a:t>
            </a:r>
            <a:endParaRPr lang="fr-FR" dirty="0"/>
          </a:p>
        </p:txBody>
      </p:sp>
      <p:sp>
        <p:nvSpPr>
          <p:cNvPr id="5" name="Espace réservé du contenu 5"/>
          <p:cNvSpPr txBox="1">
            <a:spLocks/>
          </p:cNvSpPr>
          <p:nvPr/>
        </p:nvSpPr>
        <p:spPr>
          <a:xfrm>
            <a:off x="309175" y="1340768"/>
            <a:ext cx="7849294" cy="5155257"/>
          </a:xfrm>
          <a:prstGeom prst="rect">
            <a:avLst/>
          </a:prstGeom>
        </p:spPr>
        <p:txBody>
          <a:bodyPr/>
          <a:lstStyle>
            <a:lvl1pPr marL="342900" indent="-34290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600">
                <a:solidFill>
                  <a:srgbClr val="3C5868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>
                <a:solidFill>
                  <a:srgbClr val="3C5868"/>
                </a:solidFill>
                <a:latin typeface="+mn-lt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3C5868"/>
                </a:solidFill>
                <a:latin typeface="+mn-lt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3C5868"/>
                </a:solidFill>
                <a:latin typeface="+mn-lt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600">
                <a:solidFill>
                  <a:srgbClr val="3C5868"/>
                </a:solidFill>
                <a:latin typeface="+mn-lt"/>
                <a:cs typeface="+mn-cs"/>
              </a:defRPr>
            </a:lvl5pPr>
            <a:lvl6pPr marL="2514600" indent="-228600" algn="l" defTabSz="449263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600">
                <a:solidFill>
                  <a:srgbClr val="3C5868"/>
                </a:solidFill>
                <a:latin typeface="+mn-lt"/>
                <a:cs typeface="+mn-cs"/>
              </a:defRPr>
            </a:lvl6pPr>
            <a:lvl7pPr marL="2971800" indent="-228600" algn="l" defTabSz="449263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600">
                <a:solidFill>
                  <a:srgbClr val="3C5868"/>
                </a:solidFill>
                <a:latin typeface="+mn-lt"/>
                <a:cs typeface="+mn-cs"/>
              </a:defRPr>
            </a:lvl7pPr>
            <a:lvl8pPr marL="3429000" indent="-228600" algn="l" defTabSz="449263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600">
                <a:solidFill>
                  <a:srgbClr val="3C5868"/>
                </a:solidFill>
                <a:latin typeface="+mn-lt"/>
                <a:cs typeface="+mn-cs"/>
              </a:defRPr>
            </a:lvl8pPr>
            <a:lvl9pPr marL="3886200" indent="-228600" algn="l" defTabSz="449263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1600">
                <a:solidFill>
                  <a:srgbClr val="3C5868"/>
                </a:solidFill>
                <a:latin typeface="+mn-lt"/>
                <a:cs typeface="+mn-cs"/>
              </a:defRPr>
            </a:lvl9pPr>
          </a:lstStyle>
          <a:p>
            <a:pPr marL="0" indent="0"/>
            <a:endParaRPr lang="fr-FR" kern="0" dirty="0" smtClean="0"/>
          </a:p>
          <a:p>
            <a:pPr marL="400050" lvl="1" indent="0"/>
            <a:endParaRPr lang="fr-FR" kern="0" dirty="0" smtClean="0"/>
          </a:p>
          <a:p>
            <a:pPr marL="0" indent="0"/>
            <a:endParaRPr lang="fr-FR" kern="0" dirty="0" smtClean="0"/>
          </a:p>
        </p:txBody>
      </p:sp>
    </p:spTree>
    <p:extLst>
      <p:ext uri="{BB962C8B-B14F-4D97-AF65-F5344CB8AC3E}">
        <p14:creationId xmlns:p14="http://schemas.microsoft.com/office/powerpoint/2010/main" val="16435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Les 4 valeurs agiles 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/>
          </p:nvPr>
        </p:nvSpPr>
        <p:spPr>
          <a:xfrm>
            <a:off x="539552" y="1772816"/>
            <a:ext cx="7849294" cy="3562514"/>
          </a:xfrm>
        </p:spPr>
        <p:txBody>
          <a:bodyPr/>
          <a:lstStyle/>
          <a:p>
            <a:r>
              <a:rPr lang="fr-FR" dirty="0" smtClean="0"/>
              <a:t>Un produit qui fonctionne</a:t>
            </a:r>
            <a:r>
              <a:rPr lang="fr-FR" b="0" dirty="0" smtClean="0"/>
              <a:t> prime sur un document</a:t>
            </a:r>
          </a:p>
          <a:p>
            <a:r>
              <a:rPr lang="fr-FR" dirty="0" smtClean="0"/>
              <a:t>La collaboration avec le client</a:t>
            </a:r>
            <a:r>
              <a:rPr lang="fr-FR" b="0" dirty="0" smtClean="0"/>
              <a:t> prime sur le respect du contrat</a:t>
            </a:r>
          </a:p>
          <a:p>
            <a:r>
              <a:rPr lang="fr-FR" dirty="0" smtClean="0"/>
              <a:t>L’interaction humaine</a:t>
            </a:r>
            <a:r>
              <a:rPr lang="fr-FR" b="0" dirty="0" smtClean="0"/>
              <a:t> prime sur les processus et outils</a:t>
            </a:r>
          </a:p>
          <a:p>
            <a:r>
              <a:rPr lang="fr-FR" dirty="0" smtClean="0"/>
              <a:t>L’acceptation du changement</a:t>
            </a:r>
            <a:r>
              <a:rPr lang="fr-FR" b="0" dirty="0" smtClean="0"/>
              <a:t> prime sur le suivi du plan</a:t>
            </a:r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392228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Ce qui donne…</a:t>
            </a:r>
            <a:endParaRPr lang="fr-FR" dirty="0"/>
          </a:p>
        </p:txBody>
      </p:sp>
      <p:pic>
        <p:nvPicPr>
          <p:cNvPr id="1028" name="Picture 4" descr="agile methodolod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8" y="1916832"/>
            <a:ext cx="8856645" cy="33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339752" y="483130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 smtClean="0">
                <a:solidFill>
                  <a:schemeClr val="tx1"/>
                </a:solidFill>
              </a:rPr>
              <a:t>Source: https</a:t>
            </a:r>
            <a:r>
              <a:rPr lang="fr-FR" sz="1400" dirty="0">
                <a:solidFill>
                  <a:schemeClr val="tx1"/>
                </a:solidFill>
              </a:rPr>
              <a:t>://www2.stardust-testing.com</a:t>
            </a:r>
            <a:r>
              <a:rPr lang="fr-FR" dirty="0">
                <a:solidFill>
                  <a:schemeClr val="tx1"/>
                </a:solidFill>
              </a:rPr>
              <a:t>/</a:t>
            </a:r>
          </a:p>
        </p:txBody>
      </p:sp>
      <p:grpSp>
        <p:nvGrpSpPr>
          <p:cNvPr id="13" name="Groupe 12"/>
          <p:cNvGrpSpPr/>
          <p:nvPr/>
        </p:nvGrpSpPr>
        <p:grpSpPr>
          <a:xfrm>
            <a:off x="3059832" y="1103354"/>
            <a:ext cx="2736304" cy="3117734"/>
            <a:chOff x="3059832" y="1103354"/>
            <a:chExt cx="2736304" cy="3117734"/>
          </a:xfrm>
        </p:grpSpPr>
        <p:cxnSp>
          <p:nvCxnSpPr>
            <p:cNvPr id="9" name="Connecteur droit 8"/>
            <p:cNvCxnSpPr/>
            <p:nvPr/>
          </p:nvCxnSpPr>
          <p:spPr bwMode="auto">
            <a:xfrm flipV="1">
              <a:off x="3059832" y="1196752"/>
              <a:ext cx="0" cy="2952328"/>
            </a:xfrm>
            <a:prstGeom prst="line">
              <a:avLst/>
            </a:prstGeom>
            <a:solidFill>
              <a:srgbClr val="00B8FF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Connecteur droit 11"/>
            <p:cNvCxnSpPr/>
            <p:nvPr/>
          </p:nvCxnSpPr>
          <p:spPr bwMode="auto">
            <a:xfrm flipV="1">
              <a:off x="5796136" y="1268760"/>
              <a:ext cx="0" cy="2952328"/>
            </a:xfrm>
            <a:prstGeom prst="line">
              <a:avLst/>
            </a:prstGeom>
            <a:solidFill>
              <a:srgbClr val="00B8FF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Connecteur droit avec flèche 10"/>
            <p:cNvCxnSpPr/>
            <p:nvPr/>
          </p:nvCxnSpPr>
          <p:spPr bwMode="auto">
            <a:xfrm>
              <a:off x="3059832" y="1556792"/>
              <a:ext cx="2736304" cy="0"/>
            </a:xfrm>
            <a:prstGeom prst="straightConnector1">
              <a:avLst/>
            </a:prstGeom>
            <a:solidFill>
              <a:srgbClr val="00B8FF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sp>
          <p:nvSpPr>
            <p:cNvPr id="15" name="Rectangle 14"/>
            <p:cNvSpPr/>
            <p:nvPr/>
          </p:nvSpPr>
          <p:spPr>
            <a:xfrm>
              <a:off x="3495987" y="1103354"/>
              <a:ext cx="189588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800" dirty="0" smtClean="0">
                  <a:solidFill>
                    <a:schemeClr val="tx1"/>
                  </a:solidFill>
                </a:rPr>
                <a:t>2 ou 3 semaines</a:t>
              </a:r>
              <a:endParaRPr lang="fr-FR" sz="3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10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539552" y="2060848"/>
            <a:ext cx="7772400" cy="2462213"/>
          </a:xfrm>
        </p:spPr>
        <p:txBody>
          <a:bodyPr/>
          <a:lstStyle/>
          <a:p>
            <a:pPr algn="ctr"/>
            <a:r>
              <a:rPr lang="fr-FR" sz="8000" dirty="0" smtClean="0"/>
              <a:t>Oui mais il y a un problème…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247487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5539978"/>
          </a:xfrm>
        </p:spPr>
        <p:txBody>
          <a:bodyPr/>
          <a:lstStyle/>
          <a:p>
            <a:pPr algn="ctr"/>
            <a:r>
              <a:rPr lang="fr-FR" sz="6000" dirty="0" smtClean="0"/>
              <a:t>Comment avoir confiance si le respect des documents du contrat, des processus et du plan n’est plus la norme ?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400321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83568" y="1556792"/>
            <a:ext cx="7772400" cy="4062651"/>
          </a:xfrm>
        </p:spPr>
        <p:txBody>
          <a:bodyPr/>
          <a:lstStyle/>
          <a:p>
            <a:pPr algn="ctr"/>
            <a:r>
              <a:rPr lang="fr-FR" sz="6600" dirty="0" smtClean="0"/>
              <a:t>Il faut dès le début du projet montrer au client qu’il aura un super-produit !</a:t>
            </a:r>
            <a:endParaRPr lang="fr-FR" sz="6600" dirty="0"/>
          </a:p>
        </p:txBody>
      </p:sp>
    </p:spTree>
    <p:extLst>
      <p:ext uri="{BB962C8B-B14F-4D97-AF65-F5344CB8AC3E}">
        <p14:creationId xmlns:p14="http://schemas.microsoft.com/office/powerpoint/2010/main" val="376313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19" y="446557"/>
            <a:ext cx="6948958" cy="615553"/>
          </a:xfrm>
        </p:spPr>
        <p:txBody>
          <a:bodyPr/>
          <a:lstStyle/>
          <a:p>
            <a:r>
              <a:rPr lang="fr-FR" sz="4000" dirty="0" smtClean="0"/>
              <a:t>Heureusement qu’il existe……</a:t>
            </a:r>
            <a:endParaRPr lang="fr-FR" sz="4000" dirty="0"/>
          </a:p>
        </p:txBody>
      </p:sp>
      <p:sp>
        <p:nvSpPr>
          <p:cNvPr id="4" name="Rectangle 3"/>
          <p:cNvSpPr/>
          <p:nvPr/>
        </p:nvSpPr>
        <p:spPr>
          <a:xfrm>
            <a:off x="3131840" y="6074132"/>
            <a:ext cx="31662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kern="0" dirty="0" smtClean="0">
                <a:solidFill>
                  <a:srgbClr val="56004E"/>
                </a:solidFill>
              </a:rPr>
              <a:t>La règle des 80/20</a:t>
            </a:r>
          </a:p>
        </p:txBody>
      </p:sp>
      <p:pic>
        <p:nvPicPr>
          <p:cNvPr id="3" name="Picture 2" descr="http://defiinnovationestrie.ca/wp-content/uploads/2011/03/Loi-de-pareto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13903"/>
            <a:ext cx="7302818" cy="443674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 rot="20038311">
            <a:off x="197857" y="3034448"/>
            <a:ext cx="864852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20% des fonctionnalités</a:t>
            </a:r>
          </a:p>
          <a:p>
            <a:pPr algn="ctr"/>
            <a:r>
              <a:rPr lang="fr-FR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couvrent 80% des usages</a:t>
            </a:r>
            <a:endParaRPr lang="fr-FR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715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Oui mais…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0"/>
          </p:nvPr>
        </p:nvSpPr>
        <p:spPr>
          <a:xfrm>
            <a:off x="467544" y="1340768"/>
            <a:ext cx="7849294" cy="4596130"/>
          </a:xfrm>
        </p:spPr>
        <p:txBody>
          <a:bodyPr/>
          <a:lstStyle/>
          <a:p>
            <a:r>
              <a:rPr lang="fr-FR" dirty="0" smtClean="0"/>
              <a:t>Comment connaître ces 20 % ?</a:t>
            </a:r>
          </a:p>
          <a:p>
            <a:pPr lvl="1"/>
            <a:r>
              <a:rPr lang="fr-FR" dirty="0" smtClean="0"/>
              <a:t>Les développeurs ne peuvent les deviner</a:t>
            </a:r>
          </a:p>
          <a:p>
            <a:pPr lvl="1"/>
            <a:r>
              <a:rPr lang="fr-FR" dirty="0" smtClean="0"/>
              <a:t>Le chef de projet non plus</a:t>
            </a:r>
          </a:p>
          <a:p>
            <a:pPr lvl="1"/>
            <a:r>
              <a:rPr lang="fr-FR" dirty="0" smtClean="0"/>
              <a:t>Et le client en fait</a:t>
            </a:r>
          </a:p>
          <a:p>
            <a:pPr lvl="1"/>
            <a:r>
              <a:rPr lang="fr-FR" dirty="0" smtClean="0"/>
              <a:t>Il croit qu’il sait</a:t>
            </a:r>
          </a:p>
          <a:p>
            <a:pPr lvl="1"/>
            <a:r>
              <a:rPr lang="fr-FR" dirty="0" smtClean="0"/>
              <a:t>Mais en fait il ne sait pas</a:t>
            </a:r>
          </a:p>
          <a:p>
            <a:r>
              <a:rPr lang="fr-FR" dirty="0" smtClean="0"/>
              <a:t>Le seul moyen c’est…</a:t>
            </a:r>
          </a:p>
          <a:p>
            <a:pPr lvl="1"/>
            <a:r>
              <a:rPr lang="fr-FR" dirty="0" smtClean="0"/>
              <a:t>De faire des choix au début</a:t>
            </a:r>
          </a:p>
          <a:p>
            <a:pPr lvl="1"/>
            <a:r>
              <a:rPr lang="fr-FR" dirty="0" smtClean="0"/>
              <a:t>Et de les réévaluer à chaque livraison</a:t>
            </a:r>
          </a:p>
          <a:p>
            <a:r>
              <a:rPr lang="fr-FR" dirty="0" smtClean="0"/>
              <a:t>Pour cela on utilise un </a:t>
            </a:r>
            <a:r>
              <a:rPr lang="fr-FR" dirty="0" err="1" smtClean="0"/>
              <a:t>backlog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4315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e 55"/>
          <p:cNvGrpSpPr/>
          <p:nvPr/>
        </p:nvGrpSpPr>
        <p:grpSpPr>
          <a:xfrm>
            <a:off x="827584" y="1578566"/>
            <a:ext cx="2536736" cy="4935401"/>
            <a:chOff x="827584" y="1578566"/>
            <a:chExt cx="2536736" cy="4935401"/>
          </a:xfrm>
        </p:grpSpPr>
        <p:grpSp>
          <p:nvGrpSpPr>
            <p:cNvPr id="22" name="Groupe 21"/>
            <p:cNvGrpSpPr/>
            <p:nvPr/>
          </p:nvGrpSpPr>
          <p:grpSpPr>
            <a:xfrm>
              <a:off x="827584" y="1578566"/>
              <a:ext cx="2536736" cy="3492000"/>
              <a:chOff x="827584" y="1578566"/>
              <a:chExt cx="2536736" cy="3492000"/>
            </a:xfrm>
          </p:grpSpPr>
          <p:pic>
            <p:nvPicPr>
              <p:cNvPr id="7" name="Picture 2" descr="Afficher l'image d'origine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060" r="23141"/>
              <a:stretch/>
            </p:blipFill>
            <p:spPr bwMode="auto">
              <a:xfrm>
                <a:off x="827584" y="1578566"/>
                <a:ext cx="2536736" cy="349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Ellipse 8"/>
              <p:cNvSpPr>
                <a:spLocks noChangeAspect="1"/>
              </p:cNvSpPr>
              <p:nvPr/>
            </p:nvSpPr>
            <p:spPr>
              <a:xfrm>
                <a:off x="1619672" y="1838349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rtlCol="0" anchor="ctr">
                <a:spAutoFit/>
              </a:bodyPr>
              <a:lstStyle/>
              <a:p>
                <a:pPr algn="ctr"/>
                <a:endParaRPr lang="fr-FR" dirty="0" smtClea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" name="Ellipse 9"/>
              <p:cNvSpPr>
                <a:spLocks noChangeAspect="1"/>
              </p:cNvSpPr>
              <p:nvPr/>
            </p:nvSpPr>
            <p:spPr>
              <a:xfrm>
                <a:off x="2142158" y="1838349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rtlCol="0" anchor="ctr">
                <a:spAutoFit/>
              </a:bodyPr>
              <a:lstStyle/>
              <a:p>
                <a:pPr algn="ctr"/>
                <a:endParaRPr lang="fr-FR" dirty="0" smtClean="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1" name="Groupe 20"/>
              <p:cNvGrpSpPr>
                <a:grpSpLocks noChangeAspect="1"/>
              </p:cNvGrpSpPr>
              <p:nvPr/>
            </p:nvGrpSpPr>
            <p:grpSpPr>
              <a:xfrm>
                <a:off x="1619672" y="1852558"/>
                <a:ext cx="698536" cy="468000"/>
                <a:chOff x="3645877" y="3399876"/>
                <a:chExt cx="1870611" cy="1253260"/>
              </a:xfrm>
            </p:grpSpPr>
            <p:sp>
              <p:nvSpPr>
                <p:cNvPr id="19" name="Arc 18"/>
                <p:cNvSpPr/>
                <p:nvPr/>
              </p:nvSpPr>
              <p:spPr bwMode="auto">
                <a:xfrm flipV="1">
                  <a:off x="3645877" y="3399876"/>
                  <a:ext cx="1718211" cy="1253260"/>
                </a:xfrm>
                <a:prstGeom prst="arc">
                  <a:avLst/>
                </a:prstGeom>
                <a:noFill/>
                <a:ln w="317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49263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buNone/>
                    <a:tabLst/>
                  </a:pPr>
                  <a:endParaRPr kumimoji="0" lang="fr-FR" sz="2800" b="0" i="0" u="none" strike="noStrike" cap="none" normalizeH="0" baseline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cs typeface="DejaVu Sans" charset="0"/>
                  </a:endParaRPr>
                </a:p>
              </p:txBody>
            </p:sp>
            <p:sp>
              <p:nvSpPr>
                <p:cNvPr id="20" name="Arc 19"/>
                <p:cNvSpPr/>
                <p:nvPr/>
              </p:nvSpPr>
              <p:spPr bwMode="auto">
                <a:xfrm flipH="1" flipV="1">
                  <a:off x="3798277" y="3399876"/>
                  <a:ext cx="1718211" cy="1253260"/>
                </a:xfrm>
                <a:prstGeom prst="arc">
                  <a:avLst/>
                </a:prstGeom>
                <a:noFill/>
                <a:ln w="317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49263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buNone/>
                    <a:tabLst/>
                  </a:pPr>
                  <a:endParaRPr kumimoji="0" lang="fr-FR" sz="2800" b="0" i="0" u="none" strike="noStrike" cap="none" normalizeH="0" baseline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cs typeface="DejaVu Sans" charset="0"/>
                  </a:endParaRPr>
                </a:p>
              </p:txBody>
            </p:sp>
          </p:grpSp>
        </p:grpSp>
        <p:sp>
          <p:nvSpPr>
            <p:cNvPr id="32" name="ZoneTexte 31"/>
            <p:cNvSpPr txBox="1"/>
            <p:nvPr/>
          </p:nvSpPr>
          <p:spPr>
            <a:xfrm>
              <a:off x="1115616" y="5313638"/>
              <a:ext cx="1564776" cy="120032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r>
                <a:rPr kumimoji="0" lang="fr-FR" sz="3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56004E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Client</a:t>
              </a:r>
            </a:p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r>
                <a:rPr lang="fr-FR" sz="3600" kern="0" dirty="0" smtClean="0">
                  <a:solidFill>
                    <a:srgbClr val="56004E"/>
                  </a:solidFill>
                  <a:latin typeface="+mj-lt"/>
                  <a:ea typeface="+mj-ea"/>
                  <a:cs typeface="+mj-cs"/>
                </a:rPr>
                <a:t>(MOA)</a:t>
              </a:r>
              <a:endParaRPr kumimoji="0" lang="fr-FR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56004E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57" name="Groupe 56"/>
          <p:cNvGrpSpPr/>
          <p:nvPr/>
        </p:nvGrpSpPr>
        <p:grpSpPr>
          <a:xfrm>
            <a:off x="5777307" y="1578566"/>
            <a:ext cx="3366693" cy="4946778"/>
            <a:chOff x="5777307" y="1578566"/>
            <a:chExt cx="3366693" cy="4946778"/>
          </a:xfrm>
        </p:grpSpPr>
        <p:grpSp>
          <p:nvGrpSpPr>
            <p:cNvPr id="23" name="Groupe 22"/>
            <p:cNvGrpSpPr/>
            <p:nvPr/>
          </p:nvGrpSpPr>
          <p:grpSpPr>
            <a:xfrm>
              <a:off x="6156176" y="1578566"/>
              <a:ext cx="2536736" cy="3492000"/>
              <a:chOff x="827584" y="1578566"/>
              <a:chExt cx="2536736" cy="3492000"/>
            </a:xfrm>
          </p:grpSpPr>
          <p:pic>
            <p:nvPicPr>
              <p:cNvPr id="31" name="Picture 2" descr="Afficher l'image d'origine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060" r="23141"/>
              <a:stretch/>
            </p:blipFill>
            <p:spPr bwMode="auto">
              <a:xfrm>
                <a:off x="827584" y="1578566"/>
                <a:ext cx="2536736" cy="349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Ellipse 24"/>
              <p:cNvSpPr>
                <a:spLocks noChangeAspect="1"/>
              </p:cNvSpPr>
              <p:nvPr/>
            </p:nvSpPr>
            <p:spPr>
              <a:xfrm>
                <a:off x="1619672" y="1838349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rtlCol="0" anchor="ctr">
                <a:spAutoFit/>
              </a:bodyPr>
              <a:lstStyle/>
              <a:p>
                <a:pPr algn="ctr"/>
                <a:endParaRPr lang="fr-FR" dirty="0" smtClean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" name="Ellipse 25"/>
              <p:cNvSpPr>
                <a:spLocks noChangeAspect="1"/>
              </p:cNvSpPr>
              <p:nvPr/>
            </p:nvSpPr>
            <p:spPr>
              <a:xfrm>
                <a:off x="2142158" y="1838349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</p:spPr>
            <p:txBody>
              <a:bodyPr rtlCol="0" anchor="ctr">
                <a:spAutoFit/>
              </a:bodyPr>
              <a:lstStyle/>
              <a:p>
                <a:pPr algn="ctr"/>
                <a:endParaRPr lang="fr-FR" dirty="0" smtClean="0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7" name="Groupe 26"/>
              <p:cNvGrpSpPr>
                <a:grpSpLocks noChangeAspect="1"/>
              </p:cNvGrpSpPr>
              <p:nvPr/>
            </p:nvGrpSpPr>
            <p:grpSpPr>
              <a:xfrm>
                <a:off x="1619672" y="1852558"/>
                <a:ext cx="698536" cy="468000"/>
                <a:chOff x="3645877" y="3399876"/>
                <a:chExt cx="1870611" cy="1253260"/>
              </a:xfrm>
            </p:grpSpPr>
            <p:sp>
              <p:nvSpPr>
                <p:cNvPr id="28" name="Arc 27"/>
                <p:cNvSpPr/>
                <p:nvPr/>
              </p:nvSpPr>
              <p:spPr bwMode="auto">
                <a:xfrm flipV="1">
                  <a:off x="3645877" y="3399876"/>
                  <a:ext cx="1718211" cy="1253260"/>
                </a:xfrm>
                <a:prstGeom prst="arc">
                  <a:avLst/>
                </a:prstGeom>
                <a:noFill/>
                <a:ln w="317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49263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buNone/>
                    <a:tabLst/>
                  </a:pPr>
                  <a:endParaRPr kumimoji="0" lang="fr-FR" sz="2800" b="0" i="0" u="none" strike="noStrike" cap="none" normalizeH="0" baseline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cs typeface="DejaVu Sans" charset="0"/>
                  </a:endParaRPr>
                </a:p>
              </p:txBody>
            </p:sp>
            <p:sp>
              <p:nvSpPr>
                <p:cNvPr id="29" name="Arc 28"/>
                <p:cNvSpPr/>
                <p:nvPr/>
              </p:nvSpPr>
              <p:spPr bwMode="auto">
                <a:xfrm flipH="1" flipV="1">
                  <a:off x="3798277" y="3399876"/>
                  <a:ext cx="1718211" cy="1253260"/>
                </a:xfrm>
                <a:prstGeom prst="arc">
                  <a:avLst/>
                </a:prstGeom>
                <a:noFill/>
                <a:ln w="317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49263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buNone/>
                    <a:tabLst/>
                  </a:pPr>
                  <a:endParaRPr kumimoji="0" lang="fr-FR" sz="2800" b="0" i="0" u="none" strike="noStrike" cap="none" normalizeH="0" baseline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cs typeface="DejaVu Sans" charset="0"/>
                  </a:endParaRPr>
                </a:p>
              </p:txBody>
            </p:sp>
          </p:grpSp>
        </p:grpSp>
        <p:sp>
          <p:nvSpPr>
            <p:cNvPr id="33" name="ZoneTexte 32"/>
            <p:cNvSpPr txBox="1"/>
            <p:nvPr/>
          </p:nvSpPr>
          <p:spPr>
            <a:xfrm>
              <a:off x="5777307" y="5325015"/>
              <a:ext cx="3366693" cy="120032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r>
                <a:rPr kumimoji="0" lang="fr-FR" sz="3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56004E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Développeurs</a:t>
              </a:r>
            </a:p>
            <a:p>
              <a:pPr marL="0" marR="0" indent="0" algn="ctr" defTabSz="4492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r>
                <a:rPr lang="fr-FR" sz="3600" kern="0" dirty="0" smtClean="0">
                  <a:solidFill>
                    <a:srgbClr val="56004E"/>
                  </a:solidFill>
                  <a:latin typeface="+mj-lt"/>
                  <a:ea typeface="+mj-ea"/>
                  <a:cs typeface="+mj-cs"/>
                </a:rPr>
                <a:t>(MOE)</a:t>
              </a:r>
              <a:endParaRPr kumimoji="0" lang="fr-FR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56004E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59" name="Groupe 58"/>
          <p:cNvGrpSpPr/>
          <p:nvPr/>
        </p:nvGrpSpPr>
        <p:grpSpPr>
          <a:xfrm>
            <a:off x="3364320" y="1281960"/>
            <a:ext cx="2556284" cy="3956946"/>
            <a:chOff x="3364320" y="1281960"/>
            <a:chExt cx="2556284" cy="3956946"/>
          </a:xfrm>
        </p:grpSpPr>
        <p:sp>
          <p:nvSpPr>
            <p:cNvPr id="34" name="Rectangle 33"/>
            <p:cNvSpPr/>
            <p:nvPr/>
          </p:nvSpPr>
          <p:spPr>
            <a:xfrm>
              <a:off x="3563888" y="2086558"/>
              <a:ext cx="2088232" cy="3152348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fr-FR" dirty="0" smtClean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6" name="Connecteur droit 35"/>
            <p:cNvCxnSpPr/>
            <p:nvPr/>
          </p:nvCxnSpPr>
          <p:spPr bwMode="auto">
            <a:xfrm>
              <a:off x="3563888" y="23205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Connecteur droit 36"/>
            <p:cNvCxnSpPr/>
            <p:nvPr/>
          </p:nvCxnSpPr>
          <p:spPr bwMode="auto">
            <a:xfrm>
              <a:off x="3563888" y="24729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Connecteur droit 37"/>
            <p:cNvCxnSpPr/>
            <p:nvPr/>
          </p:nvCxnSpPr>
          <p:spPr bwMode="auto">
            <a:xfrm>
              <a:off x="3563888" y="26253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Connecteur droit 38"/>
            <p:cNvCxnSpPr/>
            <p:nvPr/>
          </p:nvCxnSpPr>
          <p:spPr bwMode="auto">
            <a:xfrm>
              <a:off x="3563888" y="27777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Connecteur droit 39"/>
            <p:cNvCxnSpPr/>
            <p:nvPr/>
          </p:nvCxnSpPr>
          <p:spPr bwMode="auto">
            <a:xfrm>
              <a:off x="3563888" y="29301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Connecteur droit 40"/>
            <p:cNvCxnSpPr/>
            <p:nvPr/>
          </p:nvCxnSpPr>
          <p:spPr bwMode="auto">
            <a:xfrm>
              <a:off x="3563888" y="30825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Connecteur droit 41"/>
            <p:cNvCxnSpPr/>
            <p:nvPr/>
          </p:nvCxnSpPr>
          <p:spPr bwMode="auto">
            <a:xfrm>
              <a:off x="3563888" y="32349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Connecteur droit 42"/>
            <p:cNvCxnSpPr/>
            <p:nvPr/>
          </p:nvCxnSpPr>
          <p:spPr bwMode="auto">
            <a:xfrm>
              <a:off x="3563888" y="33873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Connecteur droit 43"/>
            <p:cNvCxnSpPr/>
            <p:nvPr/>
          </p:nvCxnSpPr>
          <p:spPr bwMode="auto">
            <a:xfrm>
              <a:off x="3563888" y="35397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Connecteur droit 45"/>
            <p:cNvCxnSpPr/>
            <p:nvPr/>
          </p:nvCxnSpPr>
          <p:spPr bwMode="auto">
            <a:xfrm>
              <a:off x="3563888" y="38445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Connecteur droit 46"/>
            <p:cNvCxnSpPr/>
            <p:nvPr/>
          </p:nvCxnSpPr>
          <p:spPr bwMode="auto">
            <a:xfrm>
              <a:off x="3563888" y="39969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Connecteur droit 47"/>
            <p:cNvCxnSpPr/>
            <p:nvPr/>
          </p:nvCxnSpPr>
          <p:spPr bwMode="auto">
            <a:xfrm>
              <a:off x="3563888" y="41493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Connecteur droit 48"/>
            <p:cNvCxnSpPr/>
            <p:nvPr/>
          </p:nvCxnSpPr>
          <p:spPr bwMode="auto">
            <a:xfrm>
              <a:off x="3563888" y="43017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Connecteur droit 49"/>
            <p:cNvCxnSpPr/>
            <p:nvPr/>
          </p:nvCxnSpPr>
          <p:spPr bwMode="auto">
            <a:xfrm>
              <a:off x="3563888" y="44541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Connecteur droit 50"/>
            <p:cNvCxnSpPr/>
            <p:nvPr/>
          </p:nvCxnSpPr>
          <p:spPr bwMode="auto">
            <a:xfrm>
              <a:off x="3563888" y="46065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Connecteur droit 51"/>
            <p:cNvCxnSpPr/>
            <p:nvPr/>
          </p:nvCxnSpPr>
          <p:spPr bwMode="auto">
            <a:xfrm>
              <a:off x="3563888" y="47589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Connecteur droit 52"/>
            <p:cNvCxnSpPr/>
            <p:nvPr/>
          </p:nvCxnSpPr>
          <p:spPr bwMode="auto">
            <a:xfrm>
              <a:off x="3563888" y="49113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Connecteur droit 53"/>
            <p:cNvCxnSpPr/>
            <p:nvPr/>
          </p:nvCxnSpPr>
          <p:spPr bwMode="auto">
            <a:xfrm>
              <a:off x="3563888" y="5063758"/>
              <a:ext cx="2088232" cy="0"/>
            </a:xfrm>
            <a:prstGeom prst="line">
              <a:avLst/>
            </a:prstGeom>
            <a:solidFill>
              <a:srgbClr val="00B8FF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8" name="Groupe 57"/>
            <p:cNvGrpSpPr/>
            <p:nvPr/>
          </p:nvGrpSpPr>
          <p:grpSpPr>
            <a:xfrm>
              <a:off x="3364320" y="1281960"/>
              <a:ext cx="2556284" cy="2410198"/>
              <a:chOff x="3364320" y="1281960"/>
              <a:chExt cx="2556284" cy="2410198"/>
            </a:xfrm>
          </p:grpSpPr>
          <p:cxnSp>
            <p:nvCxnSpPr>
              <p:cNvPr id="45" name="Connecteur droit 44"/>
              <p:cNvCxnSpPr/>
              <p:nvPr/>
            </p:nvCxnSpPr>
            <p:spPr bwMode="auto">
              <a:xfrm>
                <a:off x="3563888" y="3692158"/>
                <a:ext cx="2088232" cy="0"/>
              </a:xfrm>
              <a:prstGeom prst="line">
                <a:avLst/>
              </a:prstGeom>
              <a:solidFill>
                <a:srgbClr val="00B8FF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5" name="ZoneTexte 54"/>
              <p:cNvSpPr txBox="1"/>
              <p:nvPr/>
            </p:nvSpPr>
            <p:spPr>
              <a:xfrm>
                <a:off x="3364320" y="1281960"/>
                <a:ext cx="2556284" cy="646331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0" marR="0" indent="0" algn="l" defTabSz="44926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r>
                  <a:rPr kumimoji="0" lang="fr-FR" sz="36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56004E"/>
                    </a:solidFill>
                    <a:effectLst/>
                    <a:uLnTx/>
                    <a:uFillTx/>
                    <a:latin typeface="+mj-lt"/>
                    <a:ea typeface="+mj-ea"/>
                    <a:cs typeface="+mj-cs"/>
                  </a:rPr>
                  <a:t>Le </a:t>
                </a:r>
                <a:r>
                  <a:rPr kumimoji="0" lang="fr-FR" sz="36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56004E"/>
                    </a:solidFill>
                    <a:effectLst/>
                    <a:uLnTx/>
                    <a:uFillTx/>
                    <a:latin typeface="+mj-lt"/>
                    <a:ea typeface="+mj-ea"/>
                    <a:cs typeface="+mj-cs"/>
                  </a:rPr>
                  <a:t>Backlog</a:t>
                </a:r>
                <a:endParaRPr kumimoji="0" lang="fr-FR" sz="3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56004E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139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4"/>
          <p:cNvSpPr>
            <a:spLocks noGrp="1"/>
          </p:cNvSpPr>
          <p:nvPr>
            <p:ph sz="quarter" idx="4294967295"/>
          </p:nvPr>
        </p:nvSpPr>
        <p:spPr>
          <a:xfrm>
            <a:off x="539552" y="1916832"/>
            <a:ext cx="78486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>
              <a:buNone/>
            </a:pPr>
            <a:r>
              <a:rPr lang="fr-FR" sz="4400" dirty="0" smtClean="0"/>
              <a:t>Un site </a:t>
            </a:r>
            <a:r>
              <a:rPr lang="fr-FR" sz="4400" dirty="0"/>
              <a:t>pour permettre à des étudiants de filières différentes se s’associer pour faire un projet tuteuré </a:t>
            </a:r>
            <a:r>
              <a:rPr lang="fr-FR" sz="4400" dirty="0" smtClean="0"/>
              <a:t>ensemble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96507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7338" y="179388"/>
            <a:ext cx="6107112" cy="553998"/>
          </a:xfrm>
        </p:spPr>
        <p:txBody>
          <a:bodyPr/>
          <a:lstStyle/>
          <a:p>
            <a:r>
              <a:rPr lang="fr-FR" dirty="0" smtClean="0"/>
              <a:t>Quelques références</a:t>
            </a:r>
            <a:endParaRPr lang="fr-FR" dirty="0"/>
          </a:p>
        </p:txBody>
      </p:sp>
      <p:pic>
        <p:nvPicPr>
          <p:cNvPr id="1026" name="Picture 2" descr="https://images-na.ssl-images-amazon.com/images/I/51qaMzvkzAL._SX348_BO1,204,203,200_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5144"/>
            <a:ext cx="1767555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mages-na.ssl-images-amazon.com/images/I/51p4P%2BXRDFL._SX348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18" y="2183440"/>
            <a:ext cx="1767535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images-na.ssl-images-amazon.com/images/I/51kznQV2qPL._SX376_BO1,204,203,200_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205144"/>
            <a:ext cx="1908937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95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Thème Office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hème Office">
      <a:majorFont>
        <a:latin typeface="EurostileTBla"/>
        <a:ea typeface=""/>
        <a:cs typeface="DejaVu Sans"/>
      </a:majorFont>
      <a:minorFont>
        <a:latin typeface="Eurostile"/>
        <a:ea typeface="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0C0"/>
        </a:solidFill>
      </a:spPr>
      <a:bodyPr rtlCol="0" anchor="ctr">
        <a:spAutoFit/>
      </a:bodyPr>
      <a:lstStyle>
        <a:defPPr algn="ctr">
          <a:defRPr dirty="0" smtClean="0">
            <a:solidFill>
              <a:srgbClr val="000000"/>
            </a:solidFill>
            <a:latin typeface="Arial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DejaVu Sans" charset="0"/>
          </a:defRPr>
        </a:defPPr>
      </a:lstStyle>
    </a:lnDef>
    <a:txDef>
      <a:spPr/>
      <a:bodyPr>
        <a:spAutoFit/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sz="3600" b="0" i="0" u="none" strike="noStrike" kern="0" cap="none" spc="0" normalizeH="0" baseline="0" noProof="0" dirty="0" smtClean="0">
            <a:ln>
              <a:noFill/>
            </a:ln>
            <a:solidFill>
              <a:srgbClr val="56004E"/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8208</TotalTime>
  <Words>990</Words>
  <Application>Microsoft Office PowerPoint</Application>
  <PresentationFormat>Affichage à l'écran (4:3)</PresentationFormat>
  <Paragraphs>160</Paragraphs>
  <Slides>37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5" baseType="lpstr">
      <vt:lpstr>Arial</vt:lpstr>
      <vt:lpstr>Courier New</vt:lpstr>
      <vt:lpstr>DejaVu Sans</vt:lpstr>
      <vt:lpstr>Eurostile</vt:lpstr>
      <vt:lpstr>EurostileTBla</vt:lpstr>
      <vt:lpstr>Times New Roman</vt:lpstr>
      <vt:lpstr>Wingdings</vt:lpstr>
      <vt:lpstr>2_Thème Office</vt:lpstr>
      <vt:lpstr>Conduite de Projet</vt:lpstr>
      <vt:lpstr>Contenu de ce cours</vt:lpstr>
      <vt:lpstr>Intervenants TDs</vt:lpstr>
      <vt:lpstr>L’épreuve de Contrôle continu (TD 6)</vt:lpstr>
      <vt:lpstr>Cours 1 Initiation à la conduite de projet agile</vt:lpstr>
      <vt:lpstr>Qui suis-je ?</vt:lpstr>
      <vt:lpstr>Qu’est-ce qu’un projet ?</vt:lpstr>
      <vt:lpstr>Un projet est un effort temporaire visant à créer un produit, un service ou un résultat unique (PMI)</vt:lpstr>
      <vt:lpstr>Projets vs opérations</vt:lpstr>
      <vt:lpstr>Précisons…</vt:lpstr>
      <vt:lpstr>Les particularités des projets de développement de logiciels</vt:lpstr>
      <vt:lpstr>1- Vous ne serez pas seul</vt:lpstr>
      <vt:lpstr>2- Votre code non plus</vt:lpstr>
      <vt:lpstr>3- Et vous serez attendu par le client</vt:lpstr>
      <vt:lpstr>Et sans précautions on obtient…</vt:lpstr>
      <vt:lpstr>Des bugs impossibles à corriger  </vt:lpstr>
      <vt:lpstr>Un projet interminable… </vt:lpstr>
      <vt:lpstr>Une ambiance pourrie</vt:lpstr>
      <vt:lpstr>Un client furibard qui ne reviendra plus</vt:lpstr>
      <vt:lpstr>Le chef de projet en burn-out</vt:lpstr>
      <vt:lpstr>Le RSSI qui dit … </vt:lpstr>
      <vt:lpstr>La production qui dit … </vt:lpstr>
      <vt:lpstr>Le DPO qui dit … </vt:lpstr>
      <vt:lpstr>1 000 000 € de perdus  </vt:lpstr>
      <vt:lpstr>Et il n’y a plus qu’à…</vt:lpstr>
      <vt:lpstr>Comment fait-on pour éviter cela ?</vt:lpstr>
      <vt:lpstr>Un grand principe</vt:lpstr>
      <vt:lpstr>Les 4 valeurs agiles </vt:lpstr>
      <vt:lpstr>Ce qui donne…</vt:lpstr>
      <vt:lpstr>Oui mais il y a un problème…</vt:lpstr>
      <vt:lpstr>Comment avoir confiance si le respect des documents du contrat, des processus et du plan n’est plus la norme ?</vt:lpstr>
      <vt:lpstr>Il faut dès le début du projet montrer au client qu’il aura un super-produit !</vt:lpstr>
      <vt:lpstr>Heureusement qu’il existe……</vt:lpstr>
      <vt:lpstr>Oui mais…</vt:lpstr>
      <vt:lpstr>Présentation PowerPoint</vt:lpstr>
      <vt:lpstr>Présentation PowerPoint</vt:lpstr>
      <vt:lpstr>Quelques références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du GREYC pour MOV'EO le 22 octobre 2009</dc:title>
  <dc:creator>Office 2004 Test Drive User</dc:creator>
  <cp:lastModifiedBy>Jean-Luc</cp:lastModifiedBy>
  <cp:revision>567</cp:revision>
  <cp:lastPrinted>2015-09-22T11:02:35Z</cp:lastPrinted>
  <dcterms:created xsi:type="dcterms:W3CDTF">2009-03-05T13:22:09Z</dcterms:created>
  <dcterms:modified xsi:type="dcterms:W3CDTF">2024-09-03T16:22:00Z</dcterms:modified>
</cp:coreProperties>
</file>